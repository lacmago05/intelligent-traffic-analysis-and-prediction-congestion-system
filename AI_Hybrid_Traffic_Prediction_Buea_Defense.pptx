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109728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57200"/>
            <a:ext cx="1280160" cy="1280160"/>
          </a:xfrm>
          <a:prstGeom prst="ellipse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120640"/>
            <a:ext cx="1005840" cy="100584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5486400"/>
            <a:ext cx="731520" cy="73152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B8C00"/>
                </a:solidFill>
                <a:latin typeface="Calibri"/>
              </a:defRPr>
            </a:pPr>
            <a:r>
              <a:t>FINAL YEAR PROJECT (BTech)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6984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An AI-Powered Hybrid Congestion Analysis and Traffic Prediction System for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AI = Artificial Intelligence  |  A context-aware traffic forecasting web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Presented by:  Lacmago Magniapi Rebecca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Institution:  Landmark Metropolitan University Institute, Buea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Supervisor:  Engr. Kah Kissinger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Introduction and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Buea experiences recurring, highly local traffic congestion driven by factors specific to the town.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Global mapping services (for example Google Maps) report live travel time but are not calibrated to local causes such as: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University of Buea schedules and school opening/closing times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Market days and weekend commercial activity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The rainy season and public holidays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Commuters therefore lack a tool that explains WHY a route is slow and forecasts congestion ahead of time.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This project addresses that gap with a hybrid system tailored to Buea.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Aim and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Aim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To design and implement an intelligent, context-aware system that predicts and explains road traffic congestion in Buea.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Specific Objectives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Combine live routing data with a Machine Learning model and local context.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Collect a local traffic dataset across the main corridors of Buea.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Produce an adjusted, explainable Estimated Time of Arrival (ETA) for any route.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Provide secure, role-based access and a simple conversational interface.</a:t>
            </a:r>
          </a:p>
          <a:p>
            <a:pPr lvl="1" algn="l">
              <a:spcAft>
                <a:spcPts val="600"/>
              </a:spcAft>
              <a:defRPr sz="1200" b="0">
                <a:solidFill>
                  <a:srgbClr val="606A72"/>
                </a:solidFill>
                <a:latin typeface="Calibri"/>
              </a:defRPr>
            </a:pPr>
            <a:r>
              <a:t>–  ML = Machine Learning;  ETA = Estimated Time of Arrival.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Hybrid Approach — Three Sources of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The word "hybrid" means the prediction fuses THREE independent sources: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1. Live routing data — Google Maps Directions Application Programming Interface (API) gives real-time travel time and route geometry.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2. Machine Learning model — a trained model that recognises congestion patterns learned from locally collected data.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3. Contextual intelligence — local rules for weather, holidays, school timetable, and recurring events.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A fusion step combines all three into one adjusted ETA, so no single source is trusted on its own.</a:t>
            </a:r>
          </a:p>
          <a:p>
            <a:pPr lvl="1" algn="l">
              <a:spcAft>
                <a:spcPts val="600"/>
              </a:spcAft>
              <a:defRPr sz="1200" b="0">
                <a:solidFill>
                  <a:srgbClr val="606A72"/>
                </a:solidFill>
                <a:latin typeface="Calibri"/>
              </a:defRPr>
            </a:pPr>
            <a:r>
              <a:t>–  API = Application Programming Interface (a way for software to request data from another service).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Technologies Used (with full meanings)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Backend: Django (Python web framework) following the Model–View–Template pattern.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Database: PostgreSQL (relational database) accessed through Django's ORM.</a:t>
            </a:r>
          </a:p>
          <a:p>
            <a:pPr lvl="1" algn="l">
              <a:spcAft>
                <a:spcPts val="600"/>
              </a:spcAft>
              <a:defRPr sz="1200" b="0">
                <a:solidFill>
                  <a:srgbClr val="606A72"/>
                </a:solidFill>
                <a:latin typeface="Calibri"/>
              </a:defRPr>
            </a:pPr>
            <a:r>
              <a:t>–  ORM = Object-Relational Mapping (maps database tables to Python objects).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Machine Learning: LightGBM = Light Gradient Boosting Machine (a fast decision-tree model).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Frontend: HyperText Markup Language 5 (HTML5), Tailwind Cascading Style Sheets (CSS), and JavaScript.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External services: Google Maps, OpenWeatherMap (weather), and SendGrid (email).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Data exchange uses JSON = JavaScript Object Notation; the dataset is stored as CSV = Comma-Separated Values.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Deployment: Render cloud platform; static files served via the WhiteNoise library.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A layered design with clearly separated responsibilities: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Presentation layer — the chat-style web interface (User Interface, UI).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Application layer — Django views handle requests, authentication, and access control.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Service layer — dedicated classes for routing, the model, context, scoring, and fusion.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Shared context package — weather, holiday, school, event, pressure-score and feature logic reused by both the web app and the data collector.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Data layer — PostgreSQL database for application data; a CSV dataset for model training.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Background collector — a separate process that gathers traffic data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a Single Prediction Is Produced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Step 1 — The user enters an origin and destination (and optionally a future day/time).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Step 2 — The system requests the live route and travel time from Google Maps.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Step 3 — It gathers local context: weather, holiday, school and office rush, and events.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Step 4 — It builds the feature set and asks the Machine Learning model for a congestion prediction.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Step 5 — A fusion step adjusts the ETA using model + context rules.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Step 6 — The result (adjusted ETA, congestion level, reasons, pressure score) is returned and shown as a card, then saved to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Contextual Intelligence and Pressure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Four context services supply signals a global map cannot infer: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Weather service — rain/drizzle/thunderstorm flagged as rainfall (OpenWeatherMap).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Holiday service — Cameroon public-holiday calendar.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School service — term/holiday periods and rush windows (06:30–08:00, 13:00–15:00).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Event detector — weekly events (e.g. Saturday heavy commercial activity).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Traffic Pressure Score — a single 0–100 value summing weighted contributions (congestion, rush, rain, holiday, event, weekend).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Congestion is classified from the travel-time ratio: below 1.2 = Low, 1.2–1.6 = Medium, 1.6+ = High.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Machine Learning Model — Binary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The model predicts whether conditions are Congested or Free-flowing.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Why binary (two classes)? The collected data had very few severe-congestion examples (only 8 'High' records), so a three-level model could not learn reliably.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Free-flowing = original 'Low';  Congested = original 'Medium' + 'High'.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Trained with class weighting to handle the imbalance between the two classes.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Training and prediction share ONE feature definition (a saved 'feature schema'), so the model always receives the exact features it was trained on.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In the interface, Congested is shown as Medium; the most severe 'High' level is supplied by Google's live traffic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Technical Improvements Made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Fixed a hidden model failure: training and prediction had used different feature sets, so every prediction was silently failing and falling back to Google Maps. The model now genuinely runs.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Reframed the prediction as binary (Congested vs Free-flowing) to suit the available data.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Introduced a single shared feature module + saved feature schema to keep training and serving identical.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Added a reproducible training routine with a validation gate (a weak model cannot be deployed) and automatic backup of the previous model.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Hybrid output now shows the MORE SEVERE of the model result and Google's live classification, so heavy congestion is never hidden.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Supporting work: security hardening, data moved to the PostgreSQL database, caching for speed, and a cleaner package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— Model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Evaluated on a chronological hold-out set (the most recent 20% of data, always later than the training data).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ROC-AUC = 0.915  (Receiver Operating Characteristic – Area Under the Curve; 1.0 is perfect, 0.5 is random).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Overall accuracy = 94%  —  but accuracy alone is misleading on imbalanced data, so per-class results are reported below.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160520"/>
          <a:ext cx="8778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/>
                <a:gridCol w="1755648"/>
                <a:gridCol w="1755648"/>
                <a:gridCol w="1755648"/>
                <a:gridCol w="1755648"/>
              </a:tblGrid>
              <a:tr h="4876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00897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63238"/>
                          </a:solidFill>
                        </a:defRPr>
                      </a:pPr>
                      <a:r>
                        <a:t>Free-flowing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238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238"/>
                          </a:solidFill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238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238"/>
                          </a:solidFill>
                        </a:defRPr>
                      </a:pPr>
                      <a:r>
                        <a:t>2170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63238"/>
                          </a:solidFill>
                        </a:defRPr>
                      </a:pPr>
                      <a:r>
                        <a:t>Congested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238"/>
                          </a:solidFill>
                        </a:defRPr>
                      </a:pPr>
                      <a:r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238"/>
                          </a:solidFill>
                        </a:defRPr>
                      </a:pPr>
                      <a:r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238"/>
                          </a:solidFill>
                        </a:defRPr>
                      </a:pPr>
                      <a: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238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— Confusion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The confusion matrix shows correct vs incorrect predictions on the hold-out 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103120"/>
          <a:ext cx="7772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670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Predicted: Free-flowing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Predicted: Congested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Actual: Free-flowing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238"/>
                          </a:solidFill>
                        </a:defRPr>
                      </a:pPr>
                      <a:r>
                        <a:t>2085  (correct)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238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Actual: Congested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238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63238"/>
                          </a:solidFill>
                        </a:defRPr>
                      </a:pPr>
                      <a:r>
                        <a:t>110  (correct)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38912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Interpretation: of 175 truly congested cases, the model correctly caught 110 (a recall of 0.63).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It separates congested from free-flowing conditions rather than always predicting the majority class.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— Example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Weekday morning, Molyko–Check Point (~07:45):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Google free-flow ~6.2 min, with-traffic ~9.4 min; model returns Congested; school + office rush add delay.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Final adjusted ETA ~18 minutes; level shown as Medium; reasons displayed to the user.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Late evening, same route (21:30):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Ratio below 1.2 (Low); model returns Free-flowing; no context active.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No adjustment; ETA matches Google's ~5.8 min; all conditions clear.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Saturday afternoon: the event detector flags heavy commercial activity, raising the pressure score and the recommendation.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Three levels of testing were carried out, all passing: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Unit testing — individual functions (congestion classifier, pressure score, holiday/school/event services, OTP generator) using Django's test framework on a temporary database.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Integration testing — interfaces between the frontend, backend, external APIs, the model, and the database, using live connections.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System testing — full end-to-end flows: registration with OTP, login, password reset, role-based access, predictions, history, and the contact form.</a:t>
            </a:r>
          </a:p>
          <a:p>
            <a:pPr lvl="1" algn="l">
              <a:spcAft>
                <a:spcPts val="600"/>
              </a:spcAft>
              <a:defRPr sz="1200" b="0">
                <a:solidFill>
                  <a:srgbClr val="606A72"/>
                </a:solidFill>
                <a:latin typeface="Calibri"/>
              </a:defRPr>
            </a:pPr>
            <a:r>
              <a:t>–  OTP = One-Time Password (a single-use verification code sent by email).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User Roles — Role-Based Access Control (RBAC)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RBAC = Role-Based Access Control: access depends on the user's assigned role.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Commuter — can make and view their own traffic predictions.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Analyst — can also view the analytics dashboard.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Admin (Administrator) — full access to all pages and functions.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Security: passwords are securely hashed, email verification via One-Time Password, and protection against Cross-Site Request Forgery (CSRF — a web attack that tricks a logged-in user into submitting unwanted requests).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Limitations and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Limitations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Data was collected over a short period (~15 days) and is dominated by free-flowing cases.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A single base data source (Google Maps); no independent ground-truth sensors.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The delay adjustment values are sensible but hand-tuned, not yet learned from data.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Future Work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Collect 12+ months of data spanning dry and rainy seasons, then retrain.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Add Internet of Things (IoT) sensors at key junctions for ground-truth counts.</a:t>
            </a:r>
          </a:p>
          <a:p>
            <a:pPr lvl="1" algn="l">
              <a:spcAft>
                <a:spcPts val="600"/>
              </a:spcAft>
              <a:defRPr sz="1500" b="0">
                <a:solidFill>
                  <a:srgbClr val="606A72"/>
                </a:solidFill>
                <a:latin typeface="Calibri"/>
              </a:defRPr>
            </a:pPr>
            <a:r>
              <a:t>–  Build a mobile application and a database-driven event manager.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The project delivered a working hybrid traffic prediction system tailored to Buea.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It fuses live routing, a locally trained Machine Learning model, and local contextual rules into a single explainable prediction.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The model achieved a strong ROC-AUC of 0.915 on held-out data, and now genuinely contributes to each prediction.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Its key contribution is local specificity — encoding Buea's schools, markets, holidays, and rainy season, which global services do not capture.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63238"/>
                </a:solidFill>
                <a:latin typeface="Calibri"/>
              </a:defRPr>
            </a:pPr>
            <a:r>
              <a:t>▸  The system is a solid proof of concept and a foundation for future expansion.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06A72"/>
                </a:solidFill>
                <a:latin typeface="Calibri"/>
              </a:defRPr>
            </a:pPr>
            <a:r>
              <a:t>Lacmago Magniapi Rebecca  •  Landmark Metropolitan University Institute, Buea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06A72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109728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4937760"/>
            <a:ext cx="1371600" cy="1371600"/>
          </a:xfrm>
          <a:prstGeom prst="ellipse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B8C00"/>
                </a:solidFill>
                <a:latin typeface="Calibri"/>
              </a:defRPr>
            </a:pPr>
            <a:r>
              <a:t>Questions and discussion are welcome.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Lacmago Magniapi Rebecca  •  Supervisor: Engr. Kah Kissinger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Landmark Metropolitan University Institute, Buea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