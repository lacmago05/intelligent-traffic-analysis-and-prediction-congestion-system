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20CCBB6-CD0D-42AE-95BC-2008421A895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1143000" y="685800"/>
            <a:ext cx="4571640" cy="3428640"/>
          </a:xfrm>
          <a:prstGeom prst="rect">
            <a:avLst/>
          </a:prstGeom>
          <a:ln w="0">
            <a:noFill/>
          </a:ln>
        </p:spPr>
      </p:sp>
      <p:sp>
        <p:nvSpPr>
          <p:cNvPr id="15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Good morning. My name is Lacmago Magniapi Rebecca. My project is an AI-Powered Hybrid Congestion Analysis and Traffic Prediction System for Buea, supervised by Engr. Kah Kissinger at Landmark Metropolitan University Institute, Buea. Over the next ten minutes I will present the problem, the solution, the architecture, the method, results, and conclusions.</a:t>
            </a:r>
            <a:endParaRPr b="0" lang="en-US" sz="2000" spc="-1" strike="noStrike">
              <a:solidFill>
                <a:srgbClr val="000000"/>
              </a:solidFill>
              <a:latin typeface="Arial"/>
            </a:endParaRPr>
          </a:p>
        </p:txBody>
      </p:sp>
      <p:sp>
        <p:nvSpPr>
          <p:cNvPr id="156"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C6032F0-9F64-4C8D-9E99-E1927864C8B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1143000" y="685800"/>
            <a:ext cx="4571640" cy="3428640"/>
          </a:xfrm>
          <a:prstGeom prst="rect">
            <a:avLst/>
          </a:prstGeom>
          <a:ln w="0">
            <a:noFill/>
          </a:ln>
        </p:spPr>
      </p:sp>
      <p:sp>
        <p:nvSpPr>
          <p:cNvPr id="15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Buea's congestion is highly local: it spikes around the University of Buea, on market days, and during the rains. Tools like Google Maps tell you it is slow, but not WHY, and they do not forecast it for a chosen future time. My general objective was to build a context-aware system that both predicts and explains congestion. The specific objectives were to fuse three sources of intelligence, collect a local dataset, produce an explainable ETA, and secure it with role-based access. ETA means Estimated Time of Arrival.</a:t>
            </a:r>
            <a:endParaRPr b="0" lang="en-US" sz="2000" spc="-1" strike="noStrike">
              <a:solidFill>
                <a:srgbClr val="000000"/>
              </a:solidFill>
              <a:latin typeface="Arial"/>
            </a:endParaRPr>
          </a:p>
        </p:txBody>
      </p:sp>
      <p:sp>
        <p:nvSpPr>
          <p:cNvPr id="159"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C8DD39C-7033-4119-9CCE-831554775BD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1143000" y="685800"/>
            <a:ext cx="4571640" cy="3428640"/>
          </a:xfrm>
          <a:prstGeom prst="rect">
            <a:avLst/>
          </a:prstGeom>
          <a:ln w="0">
            <a:noFill/>
          </a:ln>
        </p:spPr>
      </p:sp>
      <p:sp>
        <p:nvSpPr>
          <p:cNvPr id="16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system is a web application. A user enters a route and gets back an adjusted arrival time, a congestion level, and the reasons. The word hybrid is central: as the diagram shows, three independent sources feed a fusion engine — Google's live routing, a LightGBM machine-learning model, and a local context layer. Because no single source is trusted alone, the result is more robust and, importantly, explainable. Key features include forecasting for a future time, a 0–100 pressure score, saved history, and an analytics dashboard.</a:t>
            </a:r>
            <a:endParaRPr b="0" lang="en-US" sz="2000" spc="-1" strike="noStrike">
              <a:solidFill>
                <a:srgbClr val="000000"/>
              </a:solidFill>
              <a:latin typeface="Arial"/>
            </a:endParaRPr>
          </a:p>
        </p:txBody>
      </p:sp>
      <p:sp>
        <p:nvSpPr>
          <p:cNvPr id="162"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7BF86CA-EF94-4613-9A76-737AA761177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1143000" y="685800"/>
            <a:ext cx="4571640" cy="3428640"/>
          </a:xfrm>
          <a:prstGeom prst="rect">
            <a:avLst/>
          </a:prstGeom>
          <a:ln w="0">
            <a:noFill/>
          </a:ln>
        </p:spPr>
      </p:sp>
      <p:sp>
        <p:nvSpPr>
          <p:cNvPr id="16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architecture is layered. The web interface sends requests to the Django backend, which handles authentication and access control. The backend orchestrates a service layer: it calls the Google Maps API for live routing, the context intelligence layer for local signals, and the LightGBM model for a congestion prediction, and it stores users, prediction history, and analytics in a PostgreSQL database. Separating these responsibilities made the system easier to build and to test. API means Application Programming Interface; LightGBM means Light Gradient Boosting Machine.</a:t>
            </a:r>
            <a:endParaRPr b="0" lang="en-US" sz="2000" spc="-1" strike="noStrike">
              <a:solidFill>
                <a:srgbClr val="000000"/>
              </a:solidFill>
              <a:latin typeface="Arial"/>
            </a:endParaRPr>
          </a:p>
        </p:txBody>
      </p:sp>
      <p:sp>
        <p:nvSpPr>
          <p:cNvPr id="165"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3254E49-CD8C-4645-B0FF-D8718B87B24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1143000" y="685800"/>
            <a:ext cx="4571640" cy="3428640"/>
          </a:xfrm>
          <a:prstGeom prst="rect">
            <a:avLst/>
          </a:prstGeom>
          <a:ln w="0">
            <a:noFill/>
          </a:ln>
        </p:spPr>
      </p:sp>
      <p:sp>
        <p:nvSpPr>
          <p:cNvPr id="16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On methodology: a background collector logged travel time, speed and context for 67 routes at intervals that tightened to ten minutes during rush hours. Features — time, day, weather, rush and event flags, and route — are defined ONCE and shared by training and serving, which guarantees the model always sees the features it was trained on. The model is a LightGBM binary classifier, Congested versus Free-flowing; I chose binary because the data had only a handful of severe-congestion cases, so a three-level model could not be trusted. Finally the hybrid logic starts from Google's estimate and adjusts for the model's verdict, rainfall, and rush hours, and it displays the more severe of the model and the live data so heavy congestion is never hidden.</a:t>
            </a:r>
            <a:endParaRPr b="0" lang="en-US" sz="2000" spc="-1" strike="noStrike">
              <a:solidFill>
                <a:srgbClr val="000000"/>
              </a:solidFill>
              <a:latin typeface="Arial"/>
            </a:endParaRPr>
          </a:p>
        </p:txBody>
      </p:sp>
      <p:sp>
        <p:nvSpPr>
          <p:cNvPr id="168"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8B23597-4DE0-447A-84B6-E683249037A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1143000" y="685800"/>
            <a:ext cx="4571640" cy="3428640"/>
          </a:xfrm>
          <a:prstGeom prst="rect">
            <a:avLst/>
          </a:prstGeom>
          <a:ln w="0">
            <a:noFill/>
          </a:ln>
        </p:spPr>
      </p:sp>
      <p:sp>
        <p:nvSpPr>
          <p:cNvPr id="17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For implementation: the backend is Django with a PostgreSQL database, the model is LightGBM, and the interface is a lightweight chat-style web page. Registration uses a one-time password sent by email, and access is governed by role-based access control with three roles — Commuter, Analyst, and Admin. Each prediction is shown as a card with the arrival time, a colour-coded congestion badge, the reasons, and a pressure score, and it is saved to the user's history. Analysts and admins also see an analytics dashboard. Here I will show two screenshots: a prediction card and the dashboard. OTP means One-Time Password; RBAC means Role-Based Access Control.</a:t>
            </a:r>
            <a:endParaRPr b="0" lang="en-US" sz="2000" spc="-1" strike="noStrike">
              <a:solidFill>
                <a:srgbClr val="000000"/>
              </a:solidFill>
              <a:latin typeface="Arial"/>
            </a:endParaRPr>
          </a:p>
        </p:txBody>
      </p:sp>
      <p:sp>
        <p:nvSpPr>
          <p:cNvPr id="171"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0E218F1-FEF4-4DF6-B166-EBEFFFCF5AA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1143000" y="685800"/>
            <a:ext cx="4571640" cy="3428640"/>
          </a:xfrm>
          <a:prstGeom prst="rect">
            <a:avLst/>
          </a:prstGeom>
          <a:ln w="0">
            <a:noFill/>
          </a:ln>
        </p:spPr>
      </p:sp>
      <p:sp>
        <p:nvSpPr>
          <p:cNvPr id="17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On results: I evaluated the model on a chronological hold-out — the most recent 20 percent of the data, always later than the training data, which is the honest way to test a time series. The area under the ROC curve was 0.915, which is strong. The table shows the per-class scores: the model catches about two-thirds of congested cases. I report per-class numbers rather than just the 94 percent accuracy, because accuracy alone is misleading on imbalanced data. Testing was done at three levels — unit, integration, and system — and all passed. The callout shows a real example: a morning trip adjusted from about 9 to 18 minutes due to school and office rush, versus a quiet late-evening trip with no adjustment.</a:t>
            </a:r>
            <a:endParaRPr b="0" lang="en-US" sz="2000" spc="-1" strike="noStrike">
              <a:solidFill>
                <a:srgbClr val="000000"/>
              </a:solidFill>
              <a:latin typeface="Arial"/>
            </a:endParaRPr>
          </a:p>
        </p:txBody>
      </p:sp>
      <p:sp>
        <p:nvSpPr>
          <p:cNvPr id="174"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A096794-4696-43EF-A6AF-3F3D2276EA9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1143000" y="685800"/>
            <a:ext cx="4571640" cy="3428640"/>
          </a:xfrm>
          <a:prstGeom prst="rect">
            <a:avLst/>
          </a:prstGeom>
          <a:ln w="0">
            <a:noFill/>
          </a:ln>
        </p:spPr>
      </p:sp>
      <p:sp>
        <p:nvSpPr>
          <p:cNvPr id="17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 conclusion, the project delivered a working hybrid traffic prediction system for Buea that combines live routing, a machine-learning model, and local context into a single explainable prediction, with the model reaching an ROC-AUC of 0.915. Its main contribution is local specificity — it understands Buea's schools, markets, holidays, and rains, which global tools do not. I am honest about the limitations: the dataset was collected over about fifteen days and is dominated by free-flowing traffic, it relies on a single base source, and the adjustment weights are hand-tuned. Future work would collect a full year of data and retrain, add roadside sensors for ground truth, and build a mobile application. Thank you — I welcome your questions.</a:t>
            </a:r>
            <a:endParaRPr b="0" lang="en-US" sz="2000" spc="-1" strike="noStrike">
              <a:solidFill>
                <a:srgbClr val="000000"/>
              </a:solidFill>
              <a:latin typeface="Arial"/>
            </a:endParaRPr>
          </a:p>
        </p:txBody>
      </p:sp>
      <p:sp>
        <p:nvSpPr>
          <p:cNvPr id="177"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C679741-856B-48B2-BC2D-E9B17653E20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EF490E1-75C7-4893-8AD3-4F1C8A2A1C51}"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2F56F576-69BC-40A3-8F50-E93514C82A66}"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34FC5138-89FE-42E8-84C8-83725A620982}"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93F35160-E059-49E6-BE80-1942ADE5222A}"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CADA5CC-3F36-4604-BF16-24C7052D1826}"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D7E33E2E-6E54-4122-910A-C935975B4E21}"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B63B92C9-BF4B-4655-BFC0-96D258B65A35}"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7062C306-0024-457A-B826-5EEA4049AE61}"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D8E05804-BE6B-48EE-B928-D8532366886F}"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6787C68A-5C72-4A4F-AF87-902E056A1923}"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3FA3D07E-D203-4E06-845A-7A0FA6471D49}"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30B68FD-495F-498C-9AC5-DD303373918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9865221-AC59-47E5-A542-F264FFFC0DC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BE0B350-7A36-40A1-9F56-1E1E56112C9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F067826-10F2-40AD-B8F8-0741E0F6614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DFD89A0-31CE-40EA-BD1A-69BC71C3915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EA5A79E-0344-4544-A7BD-0FE35912F62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D744F9D-A863-469F-904A-72D7C5B825E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A5D88EE-0D34-44D3-BFEF-2DA8E7250BC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78D002C-4827-45F5-A2EC-22FA95AC5E7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A97A7A4-4E04-4D00-B954-59AC79E864F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1B1CBE2-1D07-40DB-B9D0-609BEDE9A09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237e"/>
        </a:solidFill>
      </p:bgPr>
    </p:bg>
    <p:spTree>
      <p:nvGrpSpPr>
        <p:cNvPr id="1" name=""/>
        <p:cNvGrpSpPr/>
        <p:nvPr/>
      </p:nvGrpSpPr>
      <p:grpSpPr>
        <a:xfrm>
          <a:off x="0" y="0"/>
          <a:ext cx="0" cy="0"/>
          <a:chOff x="0" y="0"/>
          <a:chExt cx="0" cy="0"/>
        </a:xfrm>
      </p:grpSpPr>
      <p:sp>
        <p:nvSpPr>
          <p:cNvPr id="73" name="Rectangle 1"/>
          <p:cNvSpPr/>
          <p:nvPr/>
        </p:nvSpPr>
        <p:spPr>
          <a:xfrm>
            <a:off x="360" y="2971800"/>
            <a:ext cx="12191400" cy="10944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4" name="Oval 2"/>
          <p:cNvSpPr/>
          <p:nvPr/>
        </p:nvSpPr>
        <p:spPr>
          <a:xfrm>
            <a:off x="10424160" y="320400"/>
            <a:ext cx="1279800" cy="1279800"/>
          </a:xfrm>
          <a:prstGeom prst="ellipse">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 name="Oval 3"/>
          <p:cNvSpPr/>
          <p:nvPr/>
        </p:nvSpPr>
        <p:spPr>
          <a:xfrm>
            <a:off x="365760" y="5212080"/>
            <a:ext cx="1005480" cy="1005480"/>
          </a:xfrm>
          <a:prstGeom prst="ellipse">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6" name="TextBox 5"/>
          <p:cNvSpPr/>
          <p:nvPr/>
        </p:nvSpPr>
        <p:spPr>
          <a:xfrm>
            <a:off x="731520" y="914400"/>
            <a:ext cx="10698120" cy="1918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4000" spc="-1" strike="noStrike">
                <a:solidFill>
                  <a:srgbClr val="ffffff"/>
                </a:solidFill>
                <a:latin typeface="Calibri"/>
              </a:rPr>
              <a:t>An AI-Powered Hybrid Congestion Analysis and Traffic Prediction System for Buea</a:t>
            </a:r>
            <a:endParaRPr b="0" lang="en-US" sz="4000" spc="-1" strike="noStrike">
              <a:solidFill>
                <a:srgbClr val="ffffff"/>
              </a:solidFill>
              <a:latin typeface="Arial"/>
            </a:endParaRPr>
          </a:p>
        </p:txBody>
      </p:sp>
      <p:sp>
        <p:nvSpPr>
          <p:cNvPr id="77" name="TextBox 7"/>
          <p:cNvSpPr/>
          <p:nvPr/>
        </p:nvSpPr>
        <p:spPr>
          <a:xfrm>
            <a:off x="731520" y="3749040"/>
            <a:ext cx="10698120" cy="1315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2000" spc="-1" strike="noStrike">
                <a:solidFill>
                  <a:srgbClr val="ffffff"/>
                </a:solidFill>
                <a:latin typeface="Calibri"/>
              </a:rPr>
              <a:t>Student:  Lacmago Magniapi Rebecca</a:t>
            </a:r>
            <a:endParaRPr b="0" lang="en-US" sz="2000" spc="-1" strike="noStrike">
              <a:solidFill>
                <a:srgbClr val="ffffff"/>
              </a:solidFill>
              <a:latin typeface="Arial"/>
            </a:endParaRPr>
          </a:p>
          <a:p>
            <a:pPr defTabSz="457200">
              <a:lnSpc>
                <a:spcPct val="100000"/>
              </a:lnSpc>
              <a:spcAft>
                <a:spcPts val="499"/>
              </a:spcAft>
            </a:pPr>
            <a:r>
              <a:rPr b="0" lang="en-US" sz="1600" spc="-1" strike="noStrike">
                <a:solidFill>
                  <a:srgbClr val="ffffff"/>
                </a:solidFill>
                <a:latin typeface="Calibri"/>
              </a:rPr>
              <a:t>Department:  Department of Software Engineering</a:t>
            </a:r>
            <a:endParaRPr b="0" lang="en-US" sz="1600" spc="-1" strike="noStrike">
              <a:solidFill>
                <a:srgbClr val="ffffff"/>
              </a:solidFill>
              <a:latin typeface="Arial"/>
            </a:endParaRPr>
          </a:p>
          <a:p>
            <a:pPr defTabSz="457200">
              <a:lnSpc>
                <a:spcPct val="100000"/>
              </a:lnSpc>
              <a:spcAft>
                <a:spcPts val="499"/>
              </a:spcAft>
            </a:pPr>
            <a:r>
              <a:rPr b="0" lang="en-US" sz="1600" spc="-1" strike="noStrike">
                <a:solidFill>
                  <a:srgbClr val="ffffff"/>
                </a:solidFill>
                <a:latin typeface="Calibri"/>
              </a:rPr>
              <a:t>Supervisor:  Engr. Kah Kissinger</a:t>
            </a:r>
            <a:endParaRPr b="0" lang="en-US" sz="1600" spc="-1" strike="noStrike">
              <a:solidFill>
                <a:srgbClr val="ffffff"/>
              </a:solidFill>
              <a:latin typeface="Arial"/>
            </a:endParaRPr>
          </a:p>
          <a:p>
            <a:pPr defTabSz="457200">
              <a:lnSpc>
                <a:spcPct val="100000"/>
              </a:lnSpc>
              <a:spcAft>
                <a:spcPts val="499"/>
              </a:spcAft>
            </a:pPr>
            <a:r>
              <a:rPr b="0" lang="en-US" sz="1600" spc="-1" strike="noStrike">
                <a:solidFill>
                  <a:srgbClr val="ffffff"/>
                </a:solidFill>
                <a:latin typeface="Calibri"/>
              </a:rPr>
              <a:t>Institution:  Landmark Metropolitan University Institute, Buea</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b"/>
        </a:solidFill>
      </p:bgPr>
    </p:bg>
    <p:spTree>
      <p:nvGrpSpPr>
        <p:cNvPr id="1" name=""/>
        <p:cNvGrpSpPr/>
        <p:nvPr/>
      </p:nvGrpSpPr>
      <p:grpSpPr>
        <a:xfrm>
          <a:off x="0" y="0"/>
          <a:ext cx="0" cy="0"/>
          <a:chOff x="0" y="0"/>
          <a:chExt cx="0" cy="0"/>
        </a:xfrm>
      </p:grpSpPr>
      <p:sp>
        <p:nvSpPr>
          <p:cNvPr id="78" name="Rectangle 1"/>
          <p:cNvSpPr/>
          <p:nvPr/>
        </p:nvSpPr>
        <p:spPr>
          <a:xfrm>
            <a:off x="0" y="0"/>
            <a:ext cx="12191400" cy="1005480"/>
          </a:xfrm>
          <a:prstGeom prst="rect">
            <a:avLst/>
          </a:prstGeom>
          <a:solidFill>
            <a:srgbClr val="1565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9" name="Rectangle 2"/>
          <p:cNvSpPr/>
          <p:nvPr/>
        </p:nvSpPr>
        <p:spPr>
          <a:xfrm>
            <a:off x="0" y="1005840"/>
            <a:ext cx="12191400" cy="6372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80" name="Rectangle 3"/>
          <p:cNvSpPr/>
          <p:nvPr/>
        </p:nvSpPr>
        <p:spPr>
          <a:xfrm>
            <a:off x="0" y="0"/>
            <a:ext cx="145800" cy="100548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1" name="TextBox 4"/>
          <p:cNvSpPr/>
          <p:nvPr/>
        </p:nvSpPr>
        <p:spPr>
          <a:xfrm>
            <a:off x="411480" y="270360"/>
            <a:ext cx="11338200" cy="501120"/>
          </a:xfrm>
          <a:prstGeom prst="rect">
            <a:avLst/>
          </a:prstGeom>
          <a:noFill/>
          <a:ln w="0">
            <a:noFill/>
          </a:ln>
        </p:spPr>
        <p:style>
          <a:lnRef idx="0"/>
          <a:fillRef idx="0"/>
          <a:effectRef idx="0"/>
          <a:fontRef idx="minor"/>
        </p:style>
        <p:txBody>
          <a:bodyPr lIns="90000" rIns="90000" tIns="45000" bIns="45000" anchor="ctr">
            <a:spAutoFit/>
          </a:bodyPr>
          <a:p>
            <a:pPr defTabSz="457200">
              <a:lnSpc>
                <a:spcPct val="100000"/>
              </a:lnSpc>
              <a:spcAft>
                <a:spcPts val="499"/>
              </a:spcAft>
            </a:pPr>
            <a:r>
              <a:rPr b="1" lang="en-US" sz="2700" spc="-1" strike="noStrike">
                <a:solidFill>
                  <a:srgbClr val="ffffff"/>
                </a:solidFill>
                <a:latin typeface="Calibri"/>
              </a:rPr>
              <a:t>Problem Statement and Objectives</a:t>
            </a:r>
            <a:endParaRPr b="0" lang="en-US" sz="2700" spc="-1" strike="noStrike">
              <a:solidFill>
                <a:srgbClr val="000000"/>
              </a:solidFill>
              <a:latin typeface="Arial"/>
            </a:endParaRPr>
          </a:p>
        </p:txBody>
      </p:sp>
      <p:sp>
        <p:nvSpPr>
          <p:cNvPr id="82" name="TextBox 5"/>
          <p:cNvSpPr/>
          <p:nvPr/>
        </p:nvSpPr>
        <p:spPr>
          <a:xfrm>
            <a:off x="11338560" y="6446520"/>
            <a:ext cx="731160" cy="2271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spcAft>
                <a:spcPts val="499"/>
              </a:spcAft>
            </a:pPr>
            <a:r>
              <a:rPr b="1" lang="en-US" sz="900" spc="-1" strike="noStrike">
                <a:solidFill>
                  <a:srgbClr val="606a72"/>
                </a:solidFill>
                <a:latin typeface="Calibri"/>
              </a:rPr>
              <a:t>1</a:t>
            </a:r>
            <a:endParaRPr b="0" lang="en-US" sz="900" spc="-1" strike="noStrike">
              <a:solidFill>
                <a:srgbClr val="000000"/>
              </a:solidFill>
              <a:latin typeface="Arial"/>
            </a:endParaRPr>
          </a:p>
        </p:txBody>
      </p:sp>
      <p:sp>
        <p:nvSpPr>
          <p:cNvPr id="83" name="TextBox 6"/>
          <p:cNvSpPr/>
          <p:nvPr/>
        </p:nvSpPr>
        <p:spPr>
          <a:xfrm>
            <a:off x="548640" y="1600200"/>
            <a:ext cx="11063880" cy="4352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Background — Buea suffers recurring local congestion driven by school timetables, market days, public holidays and the rainy season.</a:t>
            </a:r>
            <a:endParaRPr b="0" lang="en-US" sz="1800" spc="-1" strike="noStrike">
              <a:solidFill>
                <a:srgbClr val="000000"/>
              </a:solidFill>
              <a:latin typeface="Arial"/>
            </a:endParaRPr>
          </a:p>
          <a:p>
            <a:pPr defTabSz="457200">
              <a:lnSpc>
                <a:spcPct val="100000"/>
              </a:lnSpc>
              <a:spcAft>
                <a:spcPts val="499"/>
              </a:spcAft>
            </a:pP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Problem — Global mapping services report travel time but do NOT explain local causes or forecast congestion ahead of time.</a:t>
            </a:r>
            <a:endParaRPr b="0" lang="en-US" sz="1800" spc="-1" strike="noStrike">
              <a:solidFill>
                <a:srgbClr val="000000"/>
              </a:solidFill>
              <a:latin typeface="Arial"/>
            </a:endParaRPr>
          </a:p>
          <a:p>
            <a:pPr defTabSz="457200">
              <a:lnSpc>
                <a:spcPct val="100000"/>
              </a:lnSpc>
              <a:spcAft>
                <a:spcPts val="499"/>
              </a:spcAft>
            </a:pP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General Objective</a:t>
            </a:r>
            <a:endParaRPr b="0" lang="en-US" sz="18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Build an intelligent, context-aware system that predicts and explains traffic congestion in Buea.</a:t>
            </a:r>
            <a:endParaRPr b="0" lang="en-US" sz="1500" spc="-1" strike="noStrike">
              <a:solidFill>
                <a:srgbClr val="000000"/>
              </a:solidFill>
              <a:latin typeface="Arial"/>
            </a:endParaRPr>
          </a:p>
          <a:p>
            <a:pPr marL="457200" defTabSz="457200">
              <a:lnSpc>
                <a:spcPct val="100000"/>
              </a:lnSpc>
              <a:spcAft>
                <a:spcPts val="499"/>
              </a:spcAft>
            </a:pPr>
            <a:endParaRPr b="0" lang="en-US" sz="15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Specific Objectives</a:t>
            </a:r>
            <a:endParaRPr b="0" lang="en-US" sz="18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Fuse live routing, a Machine Learning model, and local context.</a:t>
            </a:r>
            <a:endParaRPr b="0" lang="en-US" sz="15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Collect a local traffic dataset across Buea's main corridors.</a:t>
            </a:r>
            <a:endParaRPr b="0" lang="en-US" sz="15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Produce an adjusted, explainable Estimated Time of Arrival (ETA).</a:t>
            </a:r>
            <a:endParaRPr b="0" lang="en-US" sz="15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Provide secure, role-based access through a simple interface.</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b"/>
        </a:solidFill>
      </p:bgPr>
    </p:bg>
    <p:spTree>
      <p:nvGrpSpPr>
        <p:cNvPr id="1" name=""/>
        <p:cNvGrpSpPr/>
        <p:nvPr/>
      </p:nvGrpSpPr>
      <p:grpSpPr>
        <a:xfrm>
          <a:off x="0" y="0"/>
          <a:ext cx="0" cy="0"/>
          <a:chOff x="0" y="0"/>
          <a:chExt cx="0" cy="0"/>
        </a:xfrm>
      </p:grpSpPr>
      <p:sp>
        <p:nvSpPr>
          <p:cNvPr id="84" name="Rectangle 1"/>
          <p:cNvSpPr/>
          <p:nvPr/>
        </p:nvSpPr>
        <p:spPr>
          <a:xfrm>
            <a:off x="0" y="72000"/>
            <a:ext cx="12191400" cy="1005480"/>
          </a:xfrm>
          <a:prstGeom prst="rect">
            <a:avLst/>
          </a:prstGeom>
          <a:solidFill>
            <a:srgbClr val="3465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5" name="Rectangle 2"/>
          <p:cNvSpPr/>
          <p:nvPr/>
        </p:nvSpPr>
        <p:spPr>
          <a:xfrm>
            <a:off x="0" y="1005840"/>
            <a:ext cx="12191400" cy="6372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86" name="Rectangle 3"/>
          <p:cNvSpPr/>
          <p:nvPr/>
        </p:nvSpPr>
        <p:spPr>
          <a:xfrm>
            <a:off x="0" y="0"/>
            <a:ext cx="145800" cy="100548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7" name="TextBox 4"/>
          <p:cNvSpPr/>
          <p:nvPr/>
        </p:nvSpPr>
        <p:spPr>
          <a:xfrm>
            <a:off x="411480" y="270360"/>
            <a:ext cx="11338200" cy="501120"/>
          </a:xfrm>
          <a:prstGeom prst="rect">
            <a:avLst/>
          </a:prstGeom>
          <a:noFill/>
          <a:ln w="0">
            <a:noFill/>
          </a:ln>
        </p:spPr>
        <p:style>
          <a:lnRef idx="0"/>
          <a:fillRef idx="0"/>
          <a:effectRef idx="0"/>
          <a:fontRef idx="minor"/>
        </p:style>
        <p:txBody>
          <a:bodyPr lIns="90000" rIns="90000" tIns="45000" bIns="45000" anchor="ctr">
            <a:spAutoFit/>
          </a:bodyPr>
          <a:p>
            <a:pPr defTabSz="457200">
              <a:lnSpc>
                <a:spcPct val="100000"/>
              </a:lnSpc>
              <a:spcAft>
                <a:spcPts val="499"/>
              </a:spcAft>
            </a:pPr>
            <a:r>
              <a:rPr b="1" lang="en-US" sz="2700" spc="-1" strike="noStrike">
                <a:solidFill>
                  <a:srgbClr val="ffffff"/>
                </a:solidFill>
                <a:latin typeface="Calibri"/>
              </a:rPr>
              <a:t>Proposed Solution and System Overview</a:t>
            </a:r>
            <a:endParaRPr b="0" lang="en-US" sz="2700" spc="-1" strike="noStrike">
              <a:solidFill>
                <a:srgbClr val="000000"/>
              </a:solidFill>
              <a:latin typeface="Arial"/>
            </a:endParaRPr>
          </a:p>
        </p:txBody>
      </p:sp>
      <p:sp>
        <p:nvSpPr>
          <p:cNvPr id="88" name="TextBox 5"/>
          <p:cNvSpPr/>
          <p:nvPr/>
        </p:nvSpPr>
        <p:spPr>
          <a:xfrm>
            <a:off x="11338560" y="6446520"/>
            <a:ext cx="731160" cy="2271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spcAft>
                <a:spcPts val="499"/>
              </a:spcAft>
            </a:pPr>
            <a:r>
              <a:rPr b="1" lang="en-US" sz="900" spc="-1" strike="noStrike">
                <a:solidFill>
                  <a:srgbClr val="606a72"/>
                </a:solidFill>
                <a:latin typeface="Calibri"/>
              </a:rPr>
              <a:t>2</a:t>
            </a:r>
            <a:endParaRPr b="0" lang="en-US" sz="900" spc="-1" strike="noStrike">
              <a:solidFill>
                <a:srgbClr val="000000"/>
              </a:solidFill>
              <a:latin typeface="Arial"/>
            </a:endParaRPr>
          </a:p>
        </p:txBody>
      </p:sp>
      <p:sp>
        <p:nvSpPr>
          <p:cNvPr id="89" name="TextBox 6"/>
          <p:cNvSpPr/>
          <p:nvPr/>
        </p:nvSpPr>
        <p:spPr>
          <a:xfrm>
            <a:off x="548640" y="1325880"/>
            <a:ext cx="11063880" cy="1313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A web application that returns an adjusted ETA, a congestion level, and the reasons behind it.</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"Hybrid" = it fuses THREE independent sources, so no single source is trusted alone.</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Key features: future-time forecasting, explainable reasons, pressure score, route history, analytics.</a:t>
            </a:r>
            <a:endParaRPr b="0" lang="en-US" sz="1800" spc="-1" strike="noStrike">
              <a:solidFill>
                <a:srgbClr val="000000"/>
              </a:solidFill>
              <a:latin typeface="Arial"/>
            </a:endParaRPr>
          </a:p>
        </p:txBody>
      </p:sp>
      <p:sp>
        <p:nvSpPr>
          <p:cNvPr id="90" name="Rounded Rectangle 7"/>
          <p:cNvSpPr/>
          <p:nvPr/>
        </p:nvSpPr>
        <p:spPr>
          <a:xfrm>
            <a:off x="548640" y="3200400"/>
            <a:ext cx="3017160" cy="731160"/>
          </a:xfrm>
          <a:prstGeom prst="roundRect">
            <a:avLst>
              <a:gd name="adj" fmla="val 16667"/>
            </a:avLst>
          </a:prstGeom>
          <a:solidFill>
            <a:srgbClr val="1565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100" spc="-1" strike="noStrike">
                <a:solidFill>
                  <a:srgbClr val="ffffff"/>
                </a:solidFill>
                <a:latin typeface="Calibri"/>
              </a:rPr>
              <a:t>Google Maps API</a:t>
            </a:r>
            <a:br>
              <a:rPr sz="1100"/>
            </a:br>
            <a:r>
              <a:rPr b="1" lang="en-US" sz="1100" spc="-1" strike="noStrike">
                <a:solidFill>
                  <a:srgbClr val="ffffff"/>
                </a:solidFill>
                <a:latin typeface="Calibri"/>
              </a:rPr>
              <a:t>(live route + travel time)</a:t>
            </a:r>
            <a:endParaRPr b="0" lang="en-US" sz="1100" spc="-1" strike="noStrike">
              <a:solidFill>
                <a:srgbClr val="ffffff"/>
              </a:solidFill>
              <a:latin typeface="Arial"/>
            </a:endParaRPr>
          </a:p>
        </p:txBody>
      </p:sp>
      <p:sp>
        <p:nvSpPr>
          <p:cNvPr id="91" name="Rounded Rectangle 8"/>
          <p:cNvSpPr/>
          <p:nvPr/>
        </p:nvSpPr>
        <p:spPr>
          <a:xfrm>
            <a:off x="548640" y="4114800"/>
            <a:ext cx="3017160" cy="731160"/>
          </a:xfrm>
          <a:prstGeom prst="roundRect">
            <a:avLst>
              <a:gd name="adj" fmla="val 16667"/>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100" spc="-1" strike="noStrike">
                <a:solidFill>
                  <a:srgbClr val="ffffff"/>
                </a:solidFill>
                <a:latin typeface="Calibri"/>
              </a:rPr>
              <a:t>Local Context</a:t>
            </a:r>
            <a:br>
              <a:rPr sz="1100"/>
            </a:br>
            <a:r>
              <a:rPr b="1" lang="en-US" sz="1100" spc="-1" strike="noStrike">
                <a:solidFill>
                  <a:srgbClr val="ffffff"/>
                </a:solidFill>
                <a:latin typeface="Calibri"/>
              </a:rPr>
              <a:t>(weather, school, events, holidays)</a:t>
            </a:r>
            <a:endParaRPr b="0" lang="en-US" sz="1100" spc="-1" strike="noStrike">
              <a:solidFill>
                <a:srgbClr val="ffffff"/>
              </a:solidFill>
              <a:latin typeface="Arial"/>
            </a:endParaRPr>
          </a:p>
        </p:txBody>
      </p:sp>
      <p:sp>
        <p:nvSpPr>
          <p:cNvPr id="92" name="Rounded Rectangle 9"/>
          <p:cNvSpPr/>
          <p:nvPr/>
        </p:nvSpPr>
        <p:spPr>
          <a:xfrm>
            <a:off x="548640" y="5029200"/>
            <a:ext cx="3017160" cy="731160"/>
          </a:xfrm>
          <a:prstGeom prst="roundRect">
            <a:avLst>
              <a:gd name="adj" fmla="val 16667"/>
            </a:avLst>
          </a:prstGeom>
          <a:solidFill>
            <a:srgbClr val="6a1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100" spc="-1" strike="noStrike">
                <a:solidFill>
                  <a:srgbClr val="ffffff"/>
                </a:solidFill>
                <a:latin typeface="Calibri"/>
              </a:rPr>
              <a:t>LightGBM Model</a:t>
            </a:r>
            <a:br>
              <a:rPr sz="1100"/>
            </a:br>
            <a:r>
              <a:rPr b="1" lang="en-US" sz="1100" spc="-1" strike="noStrike">
                <a:solidFill>
                  <a:srgbClr val="ffffff"/>
                </a:solidFill>
                <a:latin typeface="Calibri"/>
              </a:rPr>
              <a:t>(learned congestion patterns)</a:t>
            </a:r>
            <a:endParaRPr b="0" lang="en-US" sz="1100" spc="-1" strike="noStrike">
              <a:solidFill>
                <a:srgbClr val="ffffff"/>
              </a:solidFill>
              <a:latin typeface="Arial"/>
            </a:endParaRPr>
          </a:p>
        </p:txBody>
      </p:sp>
      <p:sp>
        <p:nvSpPr>
          <p:cNvPr id="93" name="Right Arrow 10"/>
          <p:cNvSpPr/>
          <p:nvPr/>
        </p:nvSpPr>
        <p:spPr>
          <a:xfrm>
            <a:off x="3703320" y="4206240"/>
            <a:ext cx="639720" cy="639720"/>
          </a:xfrm>
          <a:prstGeom prst="right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4" name="Rounded Rectangle 11"/>
          <p:cNvSpPr/>
          <p:nvPr/>
        </p:nvSpPr>
        <p:spPr>
          <a:xfrm>
            <a:off x="4480560" y="3840480"/>
            <a:ext cx="2468520" cy="1279800"/>
          </a:xfrm>
          <a:prstGeom prst="roundRect">
            <a:avLst>
              <a:gd name="adj" fmla="val 16667"/>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400" spc="-1" strike="noStrike">
                <a:solidFill>
                  <a:srgbClr val="ffffff"/>
                </a:solidFill>
                <a:latin typeface="Calibri"/>
              </a:rPr>
              <a:t>Hybrid Fusion</a:t>
            </a:r>
            <a:br>
              <a:rPr sz="1400"/>
            </a:br>
            <a:r>
              <a:rPr b="1" lang="en-US" sz="1400" spc="-1" strike="noStrike">
                <a:solidFill>
                  <a:srgbClr val="ffffff"/>
                </a:solidFill>
                <a:latin typeface="Calibri"/>
              </a:rPr>
              <a:t>Engine</a:t>
            </a:r>
            <a:endParaRPr b="0" lang="en-US" sz="1400" spc="-1" strike="noStrike">
              <a:solidFill>
                <a:srgbClr val="000000"/>
              </a:solidFill>
              <a:latin typeface="Arial"/>
            </a:endParaRPr>
          </a:p>
        </p:txBody>
      </p:sp>
      <p:sp>
        <p:nvSpPr>
          <p:cNvPr id="95" name="Right Arrow 12"/>
          <p:cNvSpPr/>
          <p:nvPr/>
        </p:nvSpPr>
        <p:spPr>
          <a:xfrm>
            <a:off x="7086600" y="4206240"/>
            <a:ext cx="639720" cy="639720"/>
          </a:xfrm>
          <a:prstGeom prst="right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6" name="Rounded Rectangle 13"/>
          <p:cNvSpPr/>
          <p:nvPr/>
        </p:nvSpPr>
        <p:spPr>
          <a:xfrm>
            <a:off x="7955280" y="3566160"/>
            <a:ext cx="3657240" cy="1828440"/>
          </a:xfrm>
          <a:prstGeom prst="roundRect">
            <a:avLst>
              <a:gd name="adj" fmla="val 16667"/>
            </a:avLst>
          </a:prstGeom>
          <a:solidFill>
            <a:srgbClr val="1a237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300" spc="-1" strike="noStrike">
                <a:solidFill>
                  <a:srgbClr val="ffffff"/>
                </a:solidFill>
                <a:latin typeface="Calibri"/>
              </a:rPr>
              <a:t>Result shown to user:</a:t>
            </a:r>
            <a:br>
              <a:rPr sz="1300"/>
            </a:br>
            <a:r>
              <a:rPr b="1" lang="en-US" sz="1300" spc="-1" strike="noStrike">
                <a:solidFill>
                  <a:srgbClr val="ffffff"/>
                </a:solidFill>
                <a:latin typeface="Calibri"/>
              </a:rPr>
              <a:t>Adjusted ETA  •  Congestion level</a:t>
            </a:r>
            <a:br>
              <a:rPr sz="1300"/>
            </a:br>
            <a:r>
              <a:rPr b="1" lang="en-US" sz="1300" spc="-1" strike="noStrike">
                <a:solidFill>
                  <a:srgbClr val="ffffff"/>
                </a:solidFill>
                <a:latin typeface="Calibri"/>
              </a:rPr>
              <a:t>Reasons  •  Pressure score</a:t>
            </a:r>
            <a:endParaRPr b="0" lang="en-US" sz="1300" spc="-1" strike="noStrike">
              <a:solidFill>
                <a:srgbClr val="ffffff"/>
              </a:solidFill>
              <a:latin typeface="Arial"/>
            </a:endParaRPr>
          </a:p>
        </p:txBody>
      </p:sp>
      <p:sp>
        <p:nvSpPr>
          <p:cNvPr id="97" name="TextBox 14"/>
          <p:cNvSpPr/>
          <p:nvPr/>
        </p:nvSpPr>
        <p:spPr>
          <a:xfrm>
            <a:off x="548640" y="5897880"/>
            <a:ext cx="1097244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0" lang="en-US" sz="1100" spc="-1" strike="noStrike">
                <a:solidFill>
                  <a:srgbClr val="606a72"/>
                </a:solidFill>
                <a:latin typeface="Calibri"/>
              </a:rPr>
              <a:t>Figure: High-level workflow — three inputs combined into one explainable prediction.</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b"/>
        </a:solidFill>
      </p:bgPr>
    </p:bg>
    <p:spTree>
      <p:nvGrpSpPr>
        <p:cNvPr id="1" name=""/>
        <p:cNvGrpSpPr/>
        <p:nvPr/>
      </p:nvGrpSpPr>
      <p:grpSpPr>
        <a:xfrm>
          <a:off x="0" y="0"/>
          <a:ext cx="0" cy="0"/>
          <a:chOff x="0" y="0"/>
          <a:chExt cx="0" cy="0"/>
        </a:xfrm>
      </p:grpSpPr>
      <p:sp>
        <p:nvSpPr>
          <p:cNvPr id="98" name="Rectangle 1"/>
          <p:cNvSpPr/>
          <p:nvPr/>
        </p:nvSpPr>
        <p:spPr>
          <a:xfrm>
            <a:off x="0" y="0"/>
            <a:ext cx="12191400" cy="1005480"/>
          </a:xfrm>
          <a:prstGeom prst="rect">
            <a:avLst/>
          </a:prstGeom>
          <a:solidFill>
            <a:srgbClr val="1a237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9" name="Rectangle 2"/>
          <p:cNvSpPr/>
          <p:nvPr/>
        </p:nvSpPr>
        <p:spPr>
          <a:xfrm>
            <a:off x="0" y="1005840"/>
            <a:ext cx="12191400" cy="6372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100" name="Rectangle 3"/>
          <p:cNvSpPr/>
          <p:nvPr/>
        </p:nvSpPr>
        <p:spPr>
          <a:xfrm>
            <a:off x="0" y="0"/>
            <a:ext cx="145800" cy="100548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 name="TextBox 4"/>
          <p:cNvSpPr/>
          <p:nvPr/>
        </p:nvSpPr>
        <p:spPr>
          <a:xfrm>
            <a:off x="411480" y="270360"/>
            <a:ext cx="11338200" cy="501120"/>
          </a:xfrm>
          <a:prstGeom prst="rect">
            <a:avLst/>
          </a:prstGeom>
          <a:noFill/>
          <a:ln w="0">
            <a:noFill/>
          </a:ln>
        </p:spPr>
        <p:style>
          <a:lnRef idx="0"/>
          <a:fillRef idx="0"/>
          <a:effectRef idx="0"/>
          <a:fontRef idx="minor"/>
        </p:style>
        <p:txBody>
          <a:bodyPr lIns="90000" rIns="90000" tIns="45000" bIns="45000" anchor="ctr">
            <a:spAutoFit/>
          </a:bodyPr>
          <a:p>
            <a:pPr defTabSz="457200">
              <a:lnSpc>
                <a:spcPct val="100000"/>
              </a:lnSpc>
              <a:spcAft>
                <a:spcPts val="499"/>
              </a:spcAft>
            </a:pPr>
            <a:r>
              <a:rPr b="1" lang="en-US" sz="2700" spc="-1" strike="noStrike">
                <a:solidFill>
                  <a:srgbClr val="ffffff"/>
                </a:solidFill>
                <a:latin typeface="Calibri"/>
              </a:rPr>
              <a:t>System Architecture</a:t>
            </a:r>
            <a:endParaRPr b="0" lang="en-US" sz="2700" spc="-1" strike="noStrike">
              <a:solidFill>
                <a:srgbClr val="000000"/>
              </a:solidFill>
              <a:latin typeface="Arial"/>
            </a:endParaRPr>
          </a:p>
        </p:txBody>
      </p:sp>
      <p:sp>
        <p:nvSpPr>
          <p:cNvPr id="102" name="TextBox 5"/>
          <p:cNvSpPr/>
          <p:nvPr/>
        </p:nvSpPr>
        <p:spPr>
          <a:xfrm>
            <a:off x="11338560" y="6446520"/>
            <a:ext cx="731160" cy="2271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spcAft>
                <a:spcPts val="499"/>
              </a:spcAft>
            </a:pPr>
            <a:r>
              <a:rPr b="1" lang="en-US" sz="900" spc="-1" strike="noStrike">
                <a:solidFill>
                  <a:srgbClr val="606a72"/>
                </a:solidFill>
                <a:latin typeface="Calibri"/>
              </a:rPr>
              <a:t>3</a:t>
            </a:r>
            <a:endParaRPr b="0" lang="en-US" sz="900" spc="-1" strike="noStrike">
              <a:solidFill>
                <a:srgbClr val="000000"/>
              </a:solidFill>
              <a:latin typeface="Arial"/>
            </a:endParaRPr>
          </a:p>
        </p:txBody>
      </p:sp>
      <p:sp>
        <p:nvSpPr>
          <p:cNvPr id="103" name="Rounded Rectangle 6"/>
          <p:cNvSpPr/>
          <p:nvPr/>
        </p:nvSpPr>
        <p:spPr>
          <a:xfrm>
            <a:off x="4480560" y="1325880"/>
            <a:ext cx="3200040" cy="685440"/>
          </a:xfrm>
          <a:prstGeom prst="roundRect">
            <a:avLst>
              <a:gd name="adj" fmla="val 16667"/>
            </a:avLst>
          </a:prstGeom>
          <a:solidFill>
            <a:srgbClr val="1565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400" spc="-1" strike="noStrike">
                <a:solidFill>
                  <a:srgbClr val="ffffff"/>
                </a:solidFill>
                <a:latin typeface="Calibri"/>
              </a:rPr>
              <a:t>User Interface (Web)</a:t>
            </a:r>
            <a:endParaRPr b="0" lang="en-US" sz="1400" spc="-1" strike="noStrike">
              <a:solidFill>
                <a:srgbClr val="ffffff"/>
              </a:solidFill>
              <a:latin typeface="Arial"/>
            </a:endParaRPr>
          </a:p>
        </p:txBody>
      </p:sp>
      <p:sp>
        <p:nvSpPr>
          <p:cNvPr id="104" name="Down Arrow 7"/>
          <p:cNvSpPr/>
          <p:nvPr/>
        </p:nvSpPr>
        <p:spPr>
          <a:xfrm>
            <a:off x="5897880" y="2057400"/>
            <a:ext cx="411120" cy="456840"/>
          </a:xfrm>
          <a:prstGeom prst="down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5" name="Rounded Rectangle 8"/>
          <p:cNvSpPr/>
          <p:nvPr/>
        </p:nvSpPr>
        <p:spPr>
          <a:xfrm>
            <a:off x="4023360" y="2606040"/>
            <a:ext cx="4114440" cy="731160"/>
          </a:xfrm>
          <a:prstGeom prst="roundRect">
            <a:avLst>
              <a:gd name="adj" fmla="val 16667"/>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Django Backend</a:t>
            </a:r>
            <a:br>
              <a:rPr sz="1200"/>
            </a:br>
            <a:r>
              <a:rPr b="1" lang="en-US" sz="1200" spc="-1" strike="noStrike">
                <a:solidFill>
                  <a:srgbClr val="ffffff"/>
                </a:solidFill>
                <a:latin typeface="Calibri"/>
              </a:rPr>
              <a:t>(requests, authentication, access control)</a:t>
            </a:r>
            <a:endParaRPr b="0" lang="en-US" sz="1200" spc="-1" strike="noStrike">
              <a:solidFill>
                <a:srgbClr val="ffffff"/>
              </a:solidFill>
              <a:latin typeface="Arial"/>
            </a:endParaRPr>
          </a:p>
        </p:txBody>
      </p:sp>
      <p:sp>
        <p:nvSpPr>
          <p:cNvPr id="106" name="Down Arrow 9"/>
          <p:cNvSpPr/>
          <p:nvPr/>
        </p:nvSpPr>
        <p:spPr>
          <a:xfrm>
            <a:off x="1600200" y="3429000"/>
            <a:ext cx="319680" cy="502560"/>
          </a:xfrm>
          <a:prstGeom prst="down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7" name="Rounded Rectangle 10"/>
          <p:cNvSpPr/>
          <p:nvPr/>
        </p:nvSpPr>
        <p:spPr>
          <a:xfrm>
            <a:off x="457200" y="4069080"/>
            <a:ext cx="2605680" cy="1279800"/>
          </a:xfrm>
          <a:prstGeom prst="roundRect">
            <a:avLst>
              <a:gd name="adj" fmla="val 16667"/>
            </a:avLst>
          </a:prstGeom>
          <a:solidFill>
            <a:srgbClr val="1565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Google Maps API</a:t>
            </a:r>
            <a:br>
              <a:rPr sz="1200"/>
            </a:br>
            <a:r>
              <a:rPr b="1" lang="en-US" sz="1200" spc="-1" strike="noStrike">
                <a:solidFill>
                  <a:srgbClr val="ffffff"/>
                </a:solidFill>
                <a:latin typeface="Calibri"/>
              </a:rPr>
              <a:t>(live routing)</a:t>
            </a:r>
            <a:endParaRPr b="0" lang="en-US" sz="1200" spc="-1" strike="noStrike">
              <a:solidFill>
                <a:srgbClr val="ffffff"/>
              </a:solidFill>
              <a:latin typeface="Arial"/>
            </a:endParaRPr>
          </a:p>
        </p:txBody>
      </p:sp>
      <p:sp>
        <p:nvSpPr>
          <p:cNvPr id="108" name="Down Arrow 11"/>
          <p:cNvSpPr/>
          <p:nvPr/>
        </p:nvSpPr>
        <p:spPr>
          <a:xfrm>
            <a:off x="4480560" y="3429000"/>
            <a:ext cx="319680" cy="502560"/>
          </a:xfrm>
          <a:prstGeom prst="down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9" name="Rounded Rectangle 12"/>
          <p:cNvSpPr/>
          <p:nvPr/>
        </p:nvSpPr>
        <p:spPr>
          <a:xfrm>
            <a:off x="3337560" y="4069080"/>
            <a:ext cx="2605680" cy="1279800"/>
          </a:xfrm>
          <a:prstGeom prst="roundRect">
            <a:avLst>
              <a:gd name="adj" fmla="val 16667"/>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Context Intelligence Layer</a:t>
            </a:r>
            <a:br>
              <a:rPr sz="1200"/>
            </a:br>
            <a:r>
              <a:rPr b="1" lang="en-US" sz="1200" spc="-1" strike="noStrike">
                <a:solidFill>
                  <a:srgbClr val="ffffff"/>
                </a:solidFill>
                <a:latin typeface="Calibri"/>
              </a:rPr>
              <a:t>(weather, school, events, holidays)</a:t>
            </a:r>
            <a:endParaRPr b="0" lang="en-US" sz="1200" spc="-1" strike="noStrike">
              <a:solidFill>
                <a:srgbClr val="ffffff"/>
              </a:solidFill>
              <a:latin typeface="Arial"/>
            </a:endParaRPr>
          </a:p>
        </p:txBody>
      </p:sp>
      <p:sp>
        <p:nvSpPr>
          <p:cNvPr id="110" name="Down Arrow 13"/>
          <p:cNvSpPr/>
          <p:nvPr/>
        </p:nvSpPr>
        <p:spPr>
          <a:xfrm>
            <a:off x="7360920" y="3429000"/>
            <a:ext cx="319680" cy="502560"/>
          </a:xfrm>
          <a:prstGeom prst="down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1" name="Rounded Rectangle 14"/>
          <p:cNvSpPr/>
          <p:nvPr/>
        </p:nvSpPr>
        <p:spPr>
          <a:xfrm>
            <a:off x="6217920" y="4069080"/>
            <a:ext cx="2605680" cy="1279800"/>
          </a:xfrm>
          <a:prstGeom prst="roundRect">
            <a:avLst>
              <a:gd name="adj" fmla="val 16667"/>
            </a:avLst>
          </a:prstGeom>
          <a:solidFill>
            <a:srgbClr val="6a1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LightGBM Model</a:t>
            </a:r>
            <a:br>
              <a:rPr sz="1200"/>
            </a:br>
            <a:r>
              <a:rPr b="1" lang="en-US" sz="1200" spc="-1" strike="noStrike">
                <a:solidFill>
                  <a:srgbClr val="ffffff"/>
                </a:solidFill>
                <a:latin typeface="Calibri"/>
              </a:rPr>
              <a:t>(congestion prediction)</a:t>
            </a:r>
            <a:endParaRPr b="0" lang="en-US" sz="1200" spc="-1" strike="noStrike">
              <a:solidFill>
                <a:srgbClr val="ffffff"/>
              </a:solidFill>
              <a:latin typeface="Arial"/>
            </a:endParaRPr>
          </a:p>
        </p:txBody>
      </p:sp>
      <p:sp>
        <p:nvSpPr>
          <p:cNvPr id="112" name="Down Arrow 15"/>
          <p:cNvSpPr/>
          <p:nvPr/>
        </p:nvSpPr>
        <p:spPr>
          <a:xfrm>
            <a:off x="10241280" y="3429000"/>
            <a:ext cx="319680" cy="502560"/>
          </a:xfrm>
          <a:prstGeom prst="down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3" name="Rounded Rectangle 16"/>
          <p:cNvSpPr/>
          <p:nvPr/>
        </p:nvSpPr>
        <p:spPr>
          <a:xfrm>
            <a:off x="9098280" y="4069080"/>
            <a:ext cx="2605680" cy="1279800"/>
          </a:xfrm>
          <a:prstGeom prst="roundRect">
            <a:avLst>
              <a:gd name="adj" fmla="val 16667"/>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PostgreSQL Database</a:t>
            </a:r>
            <a:br>
              <a:rPr sz="1200"/>
            </a:br>
            <a:r>
              <a:rPr b="1" lang="en-US" sz="1200" spc="-1" strike="noStrike">
                <a:solidFill>
                  <a:srgbClr val="ffffff"/>
                </a:solidFill>
                <a:latin typeface="Calibri"/>
              </a:rPr>
              <a:t>(users, history, analytics)</a:t>
            </a:r>
            <a:endParaRPr b="0" lang="en-US" sz="1200" spc="-1" strike="noStrike">
              <a:solidFill>
                <a:srgbClr val="000000"/>
              </a:solidFill>
              <a:latin typeface="Arial"/>
            </a:endParaRPr>
          </a:p>
        </p:txBody>
      </p:sp>
      <p:sp>
        <p:nvSpPr>
          <p:cNvPr id="114" name="TextBox 17"/>
          <p:cNvSpPr/>
          <p:nvPr/>
        </p:nvSpPr>
        <p:spPr>
          <a:xfrm>
            <a:off x="457200" y="5532120"/>
            <a:ext cx="11246760" cy="519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0" lang="en-US" sz="1300" spc="-1" strike="noStrike">
                <a:solidFill>
                  <a:srgbClr val="263238"/>
                </a:solidFill>
                <a:latin typeface="Calibri"/>
              </a:rPr>
              <a:t>Layered design: the interface talks to the Django backend, which orchestrates the service layer (routing, context, model) and the database.</a:t>
            </a:r>
            <a:endParaRPr b="0" lang="en-US" sz="1300" spc="-1" strike="noStrike">
              <a:solidFill>
                <a:srgbClr val="000000"/>
              </a:solidFill>
              <a:latin typeface="Arial"/>
            </a:endParaRPr>
          </a:p>
          <a:p>
            <a:pPr defTabSz="457200">
              <a:lnSpc>
                <a:spcPct val="100000"/>
              </a:lnSpc>
              <a:spcAft>
                <a:spcPts val="499"/>
              </a:spcAft>
            </a:pPr>
            <a:r>
              <a:rPr b="0" lang="en-US" sz="1100" spc="-1" strike="noStrike">
                <a:solidFill>
                  <a:srgbClr val="606a72"/>
                </a:solidFill>
                <a:latin typeface="Calibri"/>
              </a:rPr>
              <a:t>API = Application Programming Interface;  LightGBM = Light Gradient Boosting Machine.</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b"/>
        </a:solidFill>
      </p:bgPr>
    </p:bg>
    <p:spTree>
      <p:nvGrpSpPr>
        <p:cNvPr id="1" name=""/>
        <p:cNvGrpSpPr/>
        <p:nvPr/>
      </p:nvGrpSpPr>
      <p:grpSpPr>
        <a:xfrm>
          <a:off x="0" y="0"/>
          <a:ext cx="0" cy="0"/>
          <a:chOff x="0" y="0"/>
          <a:chExt cx="0" cy="0"/>
        </a:xfrm>
      </p:grpSpPr>
      <p:sp>
        <p:nvSpPr>
          <p:cNvPr id="115" name="Rectangle 1"/>
          <p:cNvSpPr/>
          <p:nvPr/>
        </p:nvSpPr>
        <p:spPr>
          <a:xfrm>
            <a:off x="0" y="0"/>
            <a:ext cx="12191400" cy="1005480"/>
          </a:xfrm>
          <a:prstGeom prst="rect">
            <a:avLst/>
          </a:prstGeom>
          <a:solidFill>
            <a:srgbClr val="3465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6" name="Rectangle 2"/>
          <p:cNvSpPr/>
          <p:nvPr/>
        </p:nvSpPr>
        <p:spPr>
          <a:xfrm>
            <a:off x="0" y="1005840"/>
            <a:ext cx="12191400" cy="6372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117" name="Rectangle 3"/>
          <p:cNvSpPr/>
          <p:nvPr/>
        </p:nvSpPr>
        <p:spPr>
          <a:xfrm>
            <a:off x="0" y="0"/>
            <a:ext cx="145800" cy="100548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8" name="TextBox 4"/>
          <p:cNvSpPr/>
          <p:nvPr/>
        </p:nvSpPr>
        <p:spPr>
          <a:xfrm>
            <a:off x="411480" y="270360"/>
            <a:ext cx="11338200" cy="501120"/>
          </a:xfrm>
          <a:prstGeom prst="rect">
            <a:avLst/>
          </a:prstGeom>
          <a:noFill/>
          <a:ln w="0">
            <a:noFill/>
          </a:ln>
        </p:spPr>
        <p:style>
          <a:lnRef idx="0"/>
          <a:fillRef idx="0"/>
          <a:effectRef idx="0"/>
          <a:fontRef idx="minor"/>
        </p:style>
        <p:txBody>
          <a:bodyPr lIns="90000" rIns="90000" tIns="45000" bIns="45000" anchor="ctr">
            <a:spAutoFit/>
          </a:bodyPr>
          <a:p>
            <a:pPr defTabSz="457200">
              <a:lnSpc>
                <a:spcPct val="100000"/>
              </a:lnSpc>
              <a:spcAft>
                <a:spcPts val="499"/>
              </a:spcAft>
            </a:pPr>
            <a:r>
              <a:rPr b="1" lang="en-US" sz="2700" spc="-1" strike="noStrike">
                <a:solidFill>
                  <a:srgbClr val="ffffff"/>
                </a:solidFill>
                <a:latin typeface="Calibri"/>
              </a:rPr>
              <a:t>Methodology and Hybrid Prediction Process</a:t>
            </a:r>
            <a:endParaRPr b="0" lang="en-US" sz="2700" spc="-1" strike="noStrike">
              <a:solidFill>
                <a:srgbClr val="000000"/>
              </a:solidFill>
              <a:latin typeface="Arial"/>
            </a:endParaRPr>
          </a:p>
        </p:txBody>
      </p:sp>
      <p:sp>
        <p:nvSpPr>
          <p:cNvPr id="119" name="TextBox 5"/>
          <p:cNvSpPr/>
          <p:nvPr/>
        </p:nvSpPr>
        <p:spPr>
          <a:xfrm>
            <a:off x="11338560" y="6446520"/>
            <a:ext cx="731160" cy="2271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spcAft>
                <a:spcPts val="499"/>
              </a:spcAft>
            </a:pPr>
            <a:r>
              <a:rPr b="1" lang="en-US" sz="900" spc="-1" strike="noStrike">
                <a:solidFill>
                  <a:srgbClr val="606a72"/>
                </a:solidFill>
                <a:latin typeface="Calibri"/>
              </a:rPr>
              <a:t>4</a:t>
            </a:r>
            <a:endParaRPr b="0" lang="en-US" sz="900" spc="-1" strike="noStrike">
              <a:solidFill>
                <a:srgbClr val="000000"/>
              </a:solidFill>
              <a:latin typeface="Arial"/>
            </a:endParaRPr>
          </a:p>
        </p:txBody>
      </p:sp>
      <p:sp>
        <p:nvSpPr>
          <p:cNvPr id="120" name="TextBox 6"/>
          <p:cNvSpPr/>
          <p:nvPr/>
        </p:nvSpPr>
        <p:spPr>
          <a:xfrm>
            <a:off x="548640" y="1325880"/>
            <a:ext cx="11063880" cy="2474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Data collection — a background scheduler logs travel time, speed and context for 67 Buea routes at adaptive intervals (10–60 min).</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Feature engineering — time, day, weather, rush and event indicators, plus route; one shared definition for training and serving.</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Model — LightGBM trained as a BINARY classifier: Congested vs Free-flowing (chosen because severe-congestion data was scarce).</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Hybrid logic — start from Google's ETA, then adjust for model + rain + school/office rush; show the more severe of model vs live data.</a:t>
            </a:r>
            <a:endParaRPr b="0" lang="en-US" sz="1800" spc="-1" strike="noStrike">
              <a:solidFill>
                <a:srgbClr val="000000"/>
              </a:solidFill>
              <a:latin typeface="Arial"/>
            </a:endParaRPr>
          </a:p>
        </p:txBody>
      </p:sp>
      <p:sp>
        <p:nvSpPr>
          <p:cNvPr id="121" name="Rounded Rectangle 7"/>
          <p:cNvSpPr/>
          <p:nvPr/>
        </p:nvSpPr>
        <p:spPr>
          <a:xfrm>
            <a:off x="320040" y="4160520"/>
            <a:ext cx="1965600" cy="1051200"/>
          </a:xfrm>
          <a:prstGeom prst="roundRect">
            <a:avLst>
              <a:gd name="adj" fmla="val 16667"/>
            </a:avLst>
          </a:prstGeom>
          <a:solidFill>
            <a:srgbClr val="1565c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1. Data</a:t>
            </a:r>
            <a:br>
              <a:rPr sz="1200"/>
            </a:br>
            <a:r>
              <a:rPr b="1" lang="en-US" sz="1200" spc="-1" strike="noStrike">
                <a:solidFill>
                  <a:srgbClr val="ffffff"/>
                </a:solidFill>
                <a:latin typeface="Calibri"/>
              </a:rPr>
              <a:t>Collection</a:t>
            </a:r>
            <a:endParaRPr b="0" lang="en-US" sz="1200" spc="-1" strike="noStrike">
              <a:solidFill>
                <a:srgbClr val="ffffff"/>
              </a:solidFill>
              <a:latin typeface="Arial"/>
            </a:endParaRPr>
          </a:p>
        </p:txBody>
      </p:sp>
      <p:sp>
        <p:nvSpPr>
          <p:cNvPr id="122" name="Right Arrow 8"/>
          <p:cNvSpPr/>
          <p:nvPr/>
        </p:nvSpPr>
        <p:spPr>
          <a:xfrm>
            <a:off x="2286000" y="4526280"/>
            <a:ext cx="273960" cy="319680"/>
          </a:xfrm>
          <a:prstGeom prst="right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3" name="Rounded Rectangle 9"/>
          <p:cNvSpPr/>
          <p:nvPr/>
        </p:nvSpPr>
        <p:spPr>
          <a:xfrm>
            <a:off x="2560320" y="4160520"/>
            <a:ext cx="1965600" cy="1051200"/>
          </a:xfrm>
          <a:prstGeom prst="roundRect">
            <a:avLst>
              <a:gd name="adj" fmla="val 16667"/>
            </a:avLst>
          </a:prstGeom>
          <a:solidFill>
            <a:srgbClr val="0089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2. Feature</a:t>
            </a:r>
            <a:br>
              <a:rPr sz="1200"/>
            </a:br>
            <a:r>
              <a:rPr b="1" lang="en-US" sz="1200" spc="-1" strike="noStrike">
                <a:solidFill>
                  <a:srgbClr val="ffffff"/>
                </a:solidFill>
                <a:latin typeface="Calibri"/>
              </a:rPr>
              <a:t>Engineering</a:t>
            </a:r>
            <a:endParaRPr b="0" lang="en-US" sz="1200" spc="-1" strike="noStrike">
              <a:solidFill>
                <a:srgbClr val="ffffff"/>
              </a:solidFill>
              <a:latin typeface="Arial"/>
            </a:endParaRPr>
          </a:p>
        </p:txBody>
      </p:sp>
      <p:sp>
        <p:nvSpPr>
          <p:cNvPr id="124" name="Right Arrow 10"/>
          <p:cNvSpPr/>
          <p:nvPr/>
        </p:nvSpPr>
        <p:spPr>
          <a:xfrm>
            <a:off x="4526280" y="4526280"/>
            <a:ext cx="273960" cy="319680"/>
          </a:xfrm>
          <a:prstGeom prst="right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5" name="Rounded Rectangle 11"/>
          <p:cNvSpPr/>
          <p:nvPr/>
        </p:nvSpPr>
        <p:spPr>
          <a:xfrm>
            <a:off x="4800600" y="4160520"/>
            <a:ext cx="1965600" cy="1051200"/>
          </a:xfrm>
          <a:prstGeom prst="roundRect">
            <a:avLst>
              <a:gd name="adj" fmla="val 16667"/>
            </a:avLst>
          </a:prstGeom>
          <a:solidFill>
            <a:srgbClr val="6a1b9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3. ML Model</a:t>
            </a:r>
            <a:br>
              <a:rPr sz="1200"/>
            </a:br>
            <a:r>
              <a:rPr b="1" lang="en-US" sz="1200" spc="-1" strike="noStrike">
                <a:solidFill>
                  <a:srgbClr val="ffffff"/>
                </a:solidFill>
                <a:latin typeface="Calibri"/>
              </a:rPr>
              <a:t>(Binary)</a:t>
            </a:r>
            <a:endParaRPr b="0" lang="en-US" sz="1200" spc="-1" strike="noStrike">
              <a:solidFill>
                <a:srgbClr val="ffffff"/>
              </a:solidFill>
              <a:latin typeface="Arial"/>
            </a:endParaRPr>
          </a:p>
        </p:txBody>
      </p:sp>
      <p:sp>
        <p:nvSpPr>
          <p:cNvPr id="126" name="Right Arrow 12"/>
          <p:cNvSpPr/>
          <p:nvPr/>
        </p:nvSpPr>
        <p:spPr>
          <a:xfrm>
            <a:off x="6766560" y="4526280"/>
            <a:ext cx="273960" cy="319680"/>
          </a:xfrm>
          <a:prstGeom prst="right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7" name="Rounded Rectangle 13"/>
          <p:cNvSpPr/>
          <p:nvPr/>
        </p:nvSpPr>
        <p:spPr>
          <a:xfrm>
            <a:off x="7040880" y="4160520"/>
            <a:ext cx="1965600" cy="1051200"/>
          </a:xfrm>
          <a:prstGeom prst="roundRect">
            <a:avLst>
              <a:gd name="adj" fmla="val 16667"/>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4. Hybrid</a:t>
            </a:r>
            <a:br>
              <a:rPr sz="1200"/>
            </a:br>
            <a:r>
              <a:rPr b="1" lang="en-US" sz="1200" spc="-1" strike="noStrike">
                <a:solidFill>
                  <a:srgbClr val="ffffff"/>
                </a:solidFill>
                <a:latin typeface="Calibri"/>
              </a:rPr>
              <a:t>Fusion</a:t>
            </a:r>
            <a:endParaRPr b="0" lang="en-US" sz="1200" spc="-1" strike="noStrike">
              <a:solidFill>
                <a:srgbClr val="000000"/>
              </a:solidFill>
              <a:latin typeface="Arial"/>
            </a:endParaRPr>
          </a:p>
        </p:txBody>
      </p:sp>
      <p:sp>
        <p:nvSpPr>
          <p:cNvPr id="128" name="Right Arrow 14"/>
          <p:cNvSpPr/>
          <p:nvPr/>
        </p:nvSpPr>
        <p:spPr>
          <a:xfrm>
            <a:off x="9006840" y="4526280"/>
            <a:ext cx="273960" cy="319680"/>
          </a:xfrm>
          <a:prstGeom prst="rightArrow">
            <a:avLst>
              <a:gd name="adj1" fmla="val 50000"/>
              <a:gd name="adj2" fmla="val 50000"/>
            </a:avLst>
          </a:prstGeom>
          <a:solidFill>
            <a:srgbClr val="606a7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9" name="Rounded Rectangle 15"/>
          <p:cNvSpPr/>
          <p:nvPr/>
        </p:nvSpPr>
        <p:spPr>
          <a:xfrm>
            <a:off x="9281160" y="4160520"/>
            <a:ext cx="1965600" cy="1051200"/>
          </a:xfrm>
          <a:prstGeom prst="roundRect">
            <a:avLst>
              <a:gd name="adj" fmla="val 16667"/>
            </a:avLst>
          </a:prstGeom>
          <a:solidFill>
            <a:srgbClr val="2e7d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1200" spc="-1" strike="noStrike">
                <a:solidFill>
                  <a:srgbClr val="ffffff"/>
                </a:solidFill>
                <a:latin typeface="Calibri"/>
              </a:rPr>
              <a:t>5. Explainable</a:t>
            </a:r>
            <a:br>
              <a:rPr sz="1200"/>
            </a:br>
            <a:r>
              <a:rPr b="1" lang="en-US" sz="1200" spc="-1" strike="noStrike">
                <a:solidFill>
                  <a:srgbClr val="ffffff"/>
                </a:solidFill>
                <a:latin typeface="Calibri"/>
              </a:rPr>
              <a:t>Prediction</a:t>
            </a:r>
            <a:endParaRPr b="0" lang="en-US" sz="1200" spc="-1" strike="noStrike">
              <a:solidFill>
                <a:srgbClr val="ffffff"/>
              </a:solidFill>
              <a:latin typeface="Arial"/>
            </a:endParaRPr>
          </a:p>
        </p:txBody>
      </p:sp>
      <p:sp>
        <p:nvSpPr>
          <p:cNvPr id="130" name="TextBox 16"/>
          <p:cNvSpPr/>
          <p:nvPr/>
        </p:nvSpPr>
        <p:spPr>
          <a:xfrm>
            <a:off x="320040" y="5349240"/>
            <a:ext cx="1097244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0" lang="en-US" sz="1100" spc="-1" strike="noStrike">
                <a:solidFill>
                  <a:srgbClr val="606a72"/>
                </a:solidFill>
                <a:latin typeface="Calibri"/>
              </a:rPr>
              <a:t>Figure: Prediction pipeline from raw data collection to the final explainable prediction.</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b"/>
        </a:solidFill>
      </p:bgPr>
    </p:bg>
    <p:spTree>
      <p:nvGrpSpPr>
        <p:cNvPr id="1" name=""/>
        <p:cNvGrpSpPr/>
        <p:nvPr/>
      </p:nvGrpSpPr>
      <p:grpSpPr>
        <a:xfrm>
          <a:off x="0" y="0"/>
          <a:ext cx="0" cy="0"/>
          <a:chOff x="0" y="0"/>
          <a:chExt cx="0" cy="0"/>
        </a:xfrm>
      </p:grpSpPr>
      <p:sp>
        <p:nvSpPr>
          <p:cNvPr id="131" name="Rectangle 1"/>
          <p:cNvSpPr/>
          <p:nvPr/>
        </p:nvSpPr>
        <p:spPr>
          <a:xfrm>
            <a:off x="0" y="0"/>
            <a:ext cx="12191400" cy="1005480"/>
          </a:xfrm>
          <a:prstGeom prst="rect">
            <a:avLst/>
          </a:prstGeom>
          <a:solidFill>
            <a:srgbClr val="3465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2" name="Rectangle 2"/>
          <p:cNvSpPr/>
          <p:nvPr/>
        </p:nvSpPr>
        <p:spPr>
          <a:xfrm>
            <a:off x="0" y="1005840"/>
            <a:ext cx="12191400" cy="6372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133" name="Rectangle 3"/>
          <p:cNvSpPr/>
          <p:nvPr/>
        </p:nvSpPr>
        <p:spPr>
          <a:xfrm>
            <a:off x="0" y="0"/>
            <a:ext cx="145800" cy="100548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4" name="TextBox 4"/>
          <p:cNvSpPr/>
          <p:nvPr/>
        </p:nvSpPr>
        <p:spPr>
          <a:xfrm>
            <a:off x="411480" y="270360"/>
            <a:ext cx="11338200" cy="501120"/>
          </a:xfrm>
          <a:prstGeom prst="rect">
            <a:avLst/>
          </a:prstGeom>
          <a:noFill/>
          <a:ln w="0">
            <a:noFill/>
          </a:ln>
        </p:spPr>
        <p:style>
          <a:lnRef idx="0"/>
          <a:fillRef idx="0"/>
          <a:effectRef idx="0"/>
          <a:fontRef idx="minor"/>
        </p:style>
        <p:txBody>
          <a:bodyPr lIns="90000" rIns="90000" tIns="45000" bIns="45000" anchor="ctr">
            <a:spAutoFit/>
          </a:bodyPr>
          <a:p>
            <a:pPr defTabSz="457200">
              <a:lnSpc>
                <a:spcPct val="100000"/>
              </a:lnSpc>
              <a:spcAft>
                <a:spcPts val="499"/>
              </a:spcAft>
            </a:pPr>
            <a:r>
              <a:rPr b="1" lang="en-US" sz="2700" spc="-1" strike="noStrike">
                <a:solidFill>
                  <a:srgbClr val="ffffff"/>
                </a:solidFill>
                <a:latin typeface="Calibri"/>
              </a:rPr>
              <a:t>Implementation Highlights</a:t>
            </a:r>
            <a:endParaRPr b="0" lang="en-US" sz="2700" spc="-1" strike="noStrike">
              <a:solidFill>
                <a:srgbClr val="000000"/>
              </a:solidFill>
              <a:latin typeface="Arial"/>
            </a:endParaRPr>
          </a:p>
        </p:txBody>
      </p:sp>
      <p:sp>
        <p:nvSpPr>
          <p:cNvPr id="135" name="TextBox 5"/>
          <p:cNvSpPr/>
          <p:nvPr/>
        </p:nvSpPr>
        <p:spPr>
          <a:xfrm>
            <a:off x="11338560" y="6446520"/>
            <a:ext cx="731160" cy="2271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spcAft>
                <a:spcPts val="499"/>
              </a:spcAft>
            </a:pPr>
            <a:r>
              <a:rPr b="1" lang="en-US" sz="900" spc="-1" strike="noStrike">
                <a:solidFill>
                  <a:srgbClr val="606a72"/>
                </a:solidFill>
                <a:latin typeface="Calibri"/>
              </a:rPr>
              <a:t>5</a:t>
            </a:r>
            <a:endParaRPr b="0" lang="en-US" sz="900" spc="-1" strike="noStrike">
              <a:solidFill>
                <a:srgbClr val="000000"/>
              </a:solidFill>
              <a:latin typeface="Arial"/>
            </a:endParaRPr>
          </a:p>
        </p:txBody>
      </p:sp>
      <p:sp>
        <p:nvSpPr>
          <p:cNvPr id="136" name="TextBox 6"/>
          <p:cNvSpPr/>
          <p:nvPr/>
        </p:nvSpPr>
        <p:spPr>
          <a:xfrm>
            <a:off x="548640" y="1325880"/>
            <a:ext cx="11063880" cy="2875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Built with Django (Python), PostgreSQL, LightGBM, and a lightweight HTML/JavaScript interface.</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Authentication — sign-up with One-Time Password (OTP) email verification; Role-Based Access Control (RBAC).</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Roles — Commuter (predict), Analyst (predict + analytics), Admin (full access).</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Prediction interface — chat-style cards with ETA, congestion badge, reasons and pressure score.</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Chat history — every prediction saved and reloadable per user.</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Analytics dashboard — aggregate counts of Low / Medium / High predictions.</a:t>
            </a:r>
            <a:endParaRPr b="0" lang="en-US" sz="1800" spc="-1" strike="noStrike">
              <a:solidFill>
                <a:srgbClr val="000000"/>
              </a:solidFill>
              <a:latin typeface="Arial"/>
            </a:endParaRPr>
          </a:p>
        </p:txBody>
      </p:sp>
      <p:sp>
        <p:nvSpPr>
          <p:cNvPr id="137" name="Rectangle 7"/>
          <p:cNvSpPr/>
          <p:nvPr/>
        </p:nvSpPr>
        <p:spPr>
          <a:xfrm>
            <a:off x="548640" y="4937760"/>
            <a:ext cx="11063880" cy="1188360"/>
          </a:xfrm>
          <a:prstGeom prst="rect">
            <a:avLst/>
          </a:prstGeom>
          <a:solidFill>
            <a:srgbClr val="e8ecf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8" name="TextBox 8"/>
          <p:cNvSpPr/>
          <p:nvPr/>
        </p:nvSpPr>
        <p:spPr>
          <a:xfrm>
            <a:off x="731520" y="5074920"/>
            <a:ext cx="10789560" cy="534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1300" spc="-1" strike="noStrike">
                <a:solidFill>
                  <a:srgbClr val="1a237e"/>
                </a:solidFill>
                <a:latin typeface="Calibri"/>
              </a:rPr>
              <a:t>SUGGESTED SCREENSHOTS (insert here): 1) a prediction card showing ETA + reasons,  2) the analytics dashboard.</a:t>
            </a:r>
            <a:endParaRPr b="0" lang="en-US" sz="1300" spc="-1" strike="noStrike">
              <a:solidFill>
                <a:srgbClr val="000000"/>
              </a:solidFill>
              <a:latin typeface="Arial"/>
            </a:endParaRPr>
          </a:p>
          <a:p>
            <a:pPr defTabSz="457200">
              <a:lnSpc>
                <a:spcPct val="100000"/>
              </a:lnSpc>
              <a:spcAft>
                <a:spcPts val="499"/>
              </a:spcAft>
            </a:pPr>
            <a:r>
              <a:rPr b="0" lang="en-US" sz="1200" spc="-1" strike="noStrike">
                <a:solidFill>
                  <a:srgbClr val="606a72"/>
                </a:solidFill>
                <a:latin typeface="Calibri"/>
              </a:rPr>
              <a:t>Keep only these two — they best demonstrate the system's value.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b"/>
        </a:solidFill>
      </p:bgPr>
    </p:bg>
    <p:spTree>
      <p:nvGrpSpPr>
        <p:cNvPr id="1" name=""/>
        <p:cNvGrpSpPr/>
        <p:nvPr/>
      </p:nvGrpSpPr>
      <p:grpSpPr>
        <a:xfrm>
          <a:off x="0" y="0"/>
          <a:ext cx="0" cy="0"/>
          <a:chOff x="0" y="0"/>
          <a:chExt cx="0" cy="0"/>
        </a:xfrm>
      </p:grpSpPr>
      <p:sp>
        <p:nvSpPr>
          <p:cNvPr id="139" name="Rectangle 1"/>
          <p:cNvSpPr/>
          <p:nvPr/>
        </p:nvSpPr>
        <p:spPr>
          <a:xfrm>
            <a:off x="0" y="0"/>
            <a:ext cx="12191400" cy="1005480"/>
          </a:xfrm>
          <a:prstGeom prst="rect">
            <a:avLst/>
          </a:prstGeom>
          <a:solidFill>
            <a:srgbClr val="3465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0" name="Rectangle 2"/>
          <p:cNvSpPr/>
          <p:nvPr/>
        </p:nvSpPr>
        <p:spPr>
          <a:xfrm>
            <a:off x="0" y="1005840"/>
            <a:ext cx="12191400" cy="6372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141" name="Rectangle 3"/>
          <p:cNvSpPr/>
          <p:nvPr/>
        </p:nvSpPr>
        <p:spPr>
          <a:xfrm>
            <a:off x="0" y="0"/>
            <a:ext cx="145800" cy="100548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 name="TextBox 4"/>
          <p:cNvSpPr/>
          <p:nvPr/>
        </p:nvSpPr>
        <p:spPr>
          <a:xfrm>
            <a:off x="411480" y="270360"/>
            <a:ext cx="11338200" cy="501120"/>
          </a:xfrm>
          <a:prstGeom prst="rect">
            <a:avLst/>
          </a:prstGeom>
          <a:noFill/>
          <a:ln w="0">
            <a:noFill/>
          </a:ln>
        </p:spPr>
        <p:style>
          <a:lnRef idx="0"/>
          <a:fillRef idx="0"/>
          <a:effectRef idx="0"/>
          <a:fontRef idx="minor"/>
        </p:style>
        <p:txBody>
          <a:bodyPr lIns="90000" rIns="90000" tIns="45000" bIns="45000" anchor="ctr">
            <a:spAutoFit/>
          </a:bodyPr>
          <a:p>
            <a:pPr defTabSz="457200">
              <a:lnSpc>
                <a:spcPct val="100000"/>
              </a:lnSpc>
              <a:spcAft>
                <a:spcPts val="499"/>
              </a:spcAft>
            </a:pPr>
            <a:r>
              <a:rPr b="1" lang="en-US" sz="2700" spc="-1" strike="noStrike">
                <a:solidFill>
                  <a:srgbClr val="ffffff"/>
                </a:solidFill>
                <a:latin typeface="Calibri"/>
              </a:rPr>
              <a:t>Results and Testing</a:t>
            </a:r>
            <a:endParaRPr b="0" lang="en-US" sz="2700" spc="-1" strike="noStrike">
              <a:solidFill>
                <a:srgbClr val="000000"/>
              </a:solidFill>
              <a:latin typeface="Arial"/>
            </a:endParaRPr>
          </a:p>
        </p:txBody>
      </p:sp>
      <p:sp>
        <p:nvSpPr>
          <p:cNvPr id="143" name="TextBox 5"/>
          <p:cNvSpPr/>
          <p:nvPr/>
        </p:nvSpPr>
        <p:spPr>
          <a:xfrm>
            <a:off x="11338560" y="6446520"/>
            <a:ext cx="731160" cy="2271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spcAft>
                <a:spcPts val="499"/>
              </a:spcAft>
            </a:pPr>
            <a:r>
              <a:rPr b="1" lang="en-US" sz="900" spc="-1" strike="noStrike">
                <a:solidFill>
                  <a:srgbClr val="606a72"/>
                </a:solidFill>
                <a:latin typeface="Calibri"/>
              </a:rPr>
              <a:t>6</a:t>
            </a:r>
            <a:endParaRPr b="0" lang="en-US" sz="900" spc="-1" strike="noStrike">
              <a:solidFill>
                <a:srgbClr val="000000"/>
              </a:solidFill>
              <a:latin typeface="Arial"/>
            </a:endParaRPr>
          </a:p>
        </p:txBody>
      </p:sp>
      <p:sp>
        <p:nvSpPr>
          <p:cNvPr id="144" name="TextBox 6"/>
          <p:cNvSpPr/>
          <p:nvPr/>
        </p:nvSpPr>
        <p:spPr>
          <a:xfrm>
            <a:off x="548640" y="1325880"/>
            <a:ext cx="11063880" cy="1377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Model evaluated on a chronological hold-out set (most recent 20% of data).</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ROC-AUC = 0.915  (Receiver Operating Characteristic – Area Under the Curve; 1.0 = perfect).</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Of 175 truly congested cases, 110 were correctly identified (recall 0.63).</a:t>
            </a:r>
            <a:endParaRPr b="0" lang="en-US" sz="18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Testing — unit, integration and system tests; all passed.</a:t>
            </a:r>
            <a:endParaRPr b="0" lang="en-US" sz="1800" spc="-1" strike="noStrike">
              <a:solidFill>
                <a:srgbClr val="000000"/>
              </a:solidFill>
              <a:latin typeface="Arial"/>
            </a:endParaRPr>
          </a:p>
        </p:txBody>
      </p:sp>
      <p:graphicFrame>
        <p:nvGraphicFramePr>
          <p:cNvPr id="145" name="Table 7"/>
          <p:cNvGraphicFramePr/>
          <p:nvPr/>
        </p:nvGraphicFramePr>
        <p:xfrm>
          <a:off x="548640" y="3657600"/>
          <a:ext cx="6949080" cy="1371600"/>
        </p:xfrm>
        <a:graphic>
          <a:graphicData uri="http://schemas.openxmlformats.org/drawingml/2006/table">
            <a:tbl>
              <a:tblPr/>
              <a:tblGrid>
                <a:gridCol w="1389600"/>
                <a:gridCol w="1389600"/>
                <a:gridCol w="1389600"/>
                <a:gridCol w="1389600"/>
                <a:gridCol w="1389600"/>
              </a:tblGrid>
              <a:tr h="457200">
                <a:tc>
                  <a:txBody>
                    <a:bodyPr anchor="t">
                      <a:noAutofit/>
                    </a:bodyPr>
                    <a:p>
                      <a:pPr defTabSz="457200">
                        <a:lnSpc>
                          <a:spcPct val="100000"/>
                        </a:lnSpc>
                      </a:pPr>
                      <a:r>
                        <a:rPr b="1" lang="en-US" sz="1200" spc="-1" strike="noStrike">
                          <a:solidFill>
                            <a:srgbClr val="ffffff"/>
                          </a:solidFill>
                          <a:latin typeface="Calibri"/>
                        </a:rPr>
                        <a:t>Class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7d32"/>
                    </a:solidFill>
                  </a:tcPr>
                </a:tc>
                <a:tc>
                  <a:txBody>
                    <a:bodyPr anchor="t">
                      <a:noAutofit/>
                    </a:bodyPr>
                    <a:p>
                      <a:pPr defTabSz="457200">
                        <a:lnSpc>
                          <a:spcPct val="100000"/>
                        </a:lnSpc>
                      </a:pPr>
                      <a:r>
                        <a:rPr b="1" lang="en-US" sz="1200" spc="-1" strike="noStrike">
                          <a:solidFill>
                            <a:srgbClr val="ffffff"/>
                          </a:solidFill>
                          <a:latin typeface="Calibri"/>
                        </a:rPr>
                        <a:t>Precision</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7d32"/>
                    </a:solidFill>
                  </a:tcPr>
                </a:tc>
                <a:tc>
                  <a:txBody>
                    <a:bodyPr anchor="t">
                      <a:noAutofit/>
                    </a:bodyPr>
                    <a:p>
                      <a:pPr defTabSz="457200">
                        <a:lnSpc>
                          <a:spcPct val="100000"/>
                        </a:lnSpc>
                      </a:pPr>
                      <a:r>
                        <a:rPr b="1" lang="en-US" sz="1200" spc="-1" strike="noStrike">
                          <a:solidFill>
                            <a:srgbClr val="ffffff"/>
                          </a:solidFill>
                          <a:latin typeface="Calibri"/>
                        </a:rPr>
                        <a:t>Recall</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7d32"/>
                    </a:solidFill>
                  </a:tcPr>
                </a:tc>
                <a:tc>
                  <a:txBody>
                    <a:bodyPr anchor="t">
                      <a:noAutofit/>
                    </a:bodyPr>
                    <a:p>
                      <a:pPr defTabSz="457200">
                        <a:lnSpc>
                          <a:spcPct val="100000"/>
                        </a:lnSpc>
                      </a:pPr>
                      <a:r>
                        <a:rPr b="1" lang="en-US" sz="1200" spc="-1" strike="noStrike">
                          <a:solidFill>
                            <a:srgbClr val="ffffff"/>
                          </a:solidFill>
                          <a:latin typeface="Calibri"/>
                        </a:rPr>
                        <a:t>F1</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7d32"/>
                    </a:solidFill>
                  </a:tcPr>
                </a:tc>
                <a:tc>
                  <a:txBody>
                    <a:bodyPr anchor="t">
                      <a:noAutofit/>
                    </a:bodyPr>
                    <a:p>
                      <a:pPr defTabSz="457200">
                        <a:lnSpc>
                          <a:spcPct val="100000"/>
                        </a:lnSpc>
                      </a:pPr>
                      <a:r>
                        <a:rPr b="1" lang="en-US" sz="1200" spc="-1" strike="noStrike">
                          <a:solidFill>
                            <a:srgbClr val="ffffff"/>
                          </a:solidFill>
                          <a:latin typeface="Calibri"/>
                        </a:rPr>
                        <a:t>Support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7d32"/>
                    </a:solidFill>
                  </a:tcPr>
                </a:tc>
              </a:tr>
              <a:tr h="457200">
                <a:tc>
                  <a:txBody>
                    <a:bodyPr anchor="t">
                      <a:noAutofit/>
                    </a:bodyPr>
                    <a:p>
                      <a:pPr defTabSz="457200">
                        <a:lnSpc>
                          <a:spcPct val="100000"/>
                        </a:lnSpc>
                      </a:pPr>
                      <a:r>
                        <a:rPr b="1" lang="en-US" sz="1200" spc="-1" strike="noStrike">
                          <a:solidFill>
                            <a:srgbClr val="263238"/>
                          </a:solidFill>
                          <a:latin typeface="Calibri"/>
                        </a:rPr>
                        <a:t>Free-flowing</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263238"/>
                          </a:solidFill>
                          <a:latin typeface="Calibri"/>
                        </a:rPr>
                        <a:t>0.97</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263238"/>
                          </a:solidFill>
                          <a:latin typeface="Calibri"/>
                        </a:rPr>
                        <a:t>0.96</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263238"/>
                          </a:solidFill>
                          <a:latin typeface="Calibri"/>
                        </a:rPr>
                        <a:t>0.97</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200" spc="-1" strike="noStrike">
                          <a:solidFill>
                            <a:srgbClr val="263238"/>
                          </a:solidFill>
                          <a:latin typeface="Calibri"/>
                        </a:rPr>
                        <a:t>2170</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57200">
                <a:tc>
                  <a:txBody>
                    <a:bodyPr anchor="t">
                      <a:noAutofit/>
                    </a:bodyPr>
                    <a:p>
                      <a:pPr defTabSz="457200">
                        <a:lnSpc>
                          <a:spcPct val="100000"/>
                        </a:lnSpc>
                      </a:pPr>
                      <a:r>
                        <a:rPr b="1" lang="en-US" sz="1200" spc="-1" strike="noStrike">
                          <a:solidFill>
                            <a:srgbClr val="263238"/>
                          </a:solidFill>
                          <a:latin typeface="Calibri"/>
                        </a:rPr>
                        <a:t>Congested</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263238"/>
                          </a:solidFill>
                          <a:latin typeface="Calibri"/>
                        </a:rPr>
                        <a:t>0.56</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263238"/>
                          </a:solidFill>
                          <a:latin typeface="Calibri"/>
                        </a:rPr>
                        <a:t>0.63</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263238"/>
                          </a:solidFill>
                          <a:latin typeface="Calibri"/>
                        </a:rPr>
                        <a:t>0.59</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200" spc="-1" strike="noStrike">
                          <a:solidFill>
                            <a:srgbClr val="263238"/>
                          </a:solidFill>
                          <a:latin typeface="Calibri"/>
                        </a:rPr>
                        <a:t>175</a:t>
                      </a:r>
                      <a:endParaRPr b="0" lang="en-US" sz="1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
        <p:nvSpPr>
          <p:cNvPr id="146" name="Rectangle 8"/>
          <p:cNvSpPr/>
          <p:nvPr/>
        </p:nvSpPr>
        <p:spPr>
          <a:xfrm>
            <a:off x="7772400" y="3657600"/>
            <a:ext cx="3840120" cy="2194200"/>
          </a:xfrm>
          <a:prstGeom prst="rect">
            <a:avLst/>
          </a:prstGeom>
          <a:solidFill>
            <a:srgbClr val="e8f1e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7" name="TextBox 9"/>
          <p:cNvSpPr/>
          <p:nvPr/>
        </p:nvSpPr>
        <p:spPr>
          <a:xfrm>
            <a:off x="7955280" y="3749040"/>
            <a:ext cx="3565800" cy="1209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1300" spc="-1" strike="noStrike">
                <a:solidFill>
                  <a:srgbClr val="2e7d32"/>
                </a:solidFill>
                <a:latin typeface="Calibri"/>
              </a:rPr>
              <a:t>Sample prediction</a:t>
            </a:r>
            <a:endParaRPr b="0" lang="en-US" sz="1300" spc="-1" strike="noStrike">
              <a:solidFill>
                <a:srgbClr val="000000"/>
              </a:solidFill>
              <a:latin typeface="Arial"/>
            </a:endParaRPr>
          </a:p>
          <a:p>
            <a:pPr defTabSz="457200">
              <a:lnSpc>
                <a:spcPct val="100000"/>
              </a:lnSpc>
              <a:spcAft>
                <a:spcPts val="499"/>
              </a:spcAft>
            </a:pPr>
            <a:r>
              <a:rPr b="1" lang="en-US" sz="1200" spc="-1" strike="noStrike">
                <a:solidFill>
                  <a:srgbClr val="263238"/>
                </a:solidFill>
                <a:latin typeface="Calibri"/>
              </a:rPr>
              <a:t>Molyko→Check Point, 07:45:</a:t>
            </a:r>
            <a:endParaRPr b="0" lang="en-US" sz="1200" spc="-1" strike="noStrike">
              <a:solidFill>
                <a:srgbClr val="000000"/>
              </a:solidFill>
              <a:latin typeface="Arial"/>
            </a:endParaRPr>
          </a:p>
          <a:p>
            <a:pPr defTabSz="457200">
              <a:lnSpc>
                <a:spcPct val="100000"/>
              </a:lnSpc>
              <a:spcAft>
                <a:spcPts val="499"/>
              </a:spcAft>
            </a:pPr>
            <a:r>
              <a:rPr b="0" lang="en-US" sz="1200" spc="-1" strike="noStrike">
                <a:solidFill>
                  <a:srgbClr val="263238"/>
                </a:solidFill>
                <a:latin typeface="Calibri"/>
              </a:rPr>
              <a:t>Google ~9.4 min → adjusted ~18 min (school + office rush). Shown as Medium.</a:t>
            </a:r>
            <a:endParaRPr b="0" lang="en-US" sz="1200" spc="-1" strike="noStrike">
              <a:solidFill>
                <a:srgbClr val="000000"/>
              </a:solidFill>
              <a:latin typeface="Arial"/>
            </a:endParaRPr>
          </a:p>
          <a:p>
            <a:pPr defTabSz="457200">
              <a:lnSpc>
                <a:spcPct val="100000"/>
              </a:lnSpc>
              <a:spcAft>
                <a:spcPts val="499"/>
              </a:spcAft>
            </a:pPr>
            <a:r>
              <a:rPr b="0" lang="en-US" sz="1200" spc="-1" strike="noStrike">
                <a:solidFill>
                  <a:srgbClr val="263238"/>
                </a:solidFill>
                <a:latin typeface="Calibri"/>
              </a:rPr>
              <a:t>21:30: Free-flowing, no adjustment (~5.8 min).</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b"/>
        </a:solidFill>
      </p:bgPr>
    </p:bg>
    <p:spTree>
      <p:nvGrpSpPr>
        <p:cNvPr id="1" name=""/>
        <p:cNvGrpSpPr/>
        <p:nvPr/>
      </p:nvGrpSpPr>
      <p:grpSpPr>
        <a:xfrm>
          <a:off x="0" y="0"/>
          <a:ext cx="0" cy="0"/>
          <a:chOff x="0" y="0"/>
          <a:chExt cx="0" cy="0"/>
        </a:xfrm>
      </p:grpSpPr>
      <p:sp>
        <p:nvSpPr>
          <p:cNvPr id="148" name="Rectangle 1"/>
          <p:cNvSpPr/>
          <p:nvPr/>
        </p:nvSpPr>
        <p:spPr>
          <a:xfrm>
            <a:off x="0" y="0"/>
            <a:ext cx="12191400" cy="1005480"/>
          </a:xfrm>
          <a:prstGeom prst="rect">
            <a:avLst/>
          </a:prstGeom>
          <a:solidFill>
            <a:srgbClr val="1a237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9" name="Rectangle 2"/>
          <p:cNvSpPr/>
          <p:nvPr/>
        </p:nvSpPr>
        <p:spPr>
          <a:xfrm>
            <a:off x="0" y="1005840"/>
            <a:ext cx="12191400" cy="6372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150" name="Rectangle 3"/>
          <p:cNvSpPr/>
          <p:nvPr/>
        </p:nvSpPr>
        <p:spPr>
          <a:xfrm>
            <a:off x="0" y="0"/>
            <a:ext cx="145800" cy="1005480"/>
          </a:xfrm>
          <a:prstGeom prst="rect">
            <a:avLst/>
          </a:prstGeom>
          <a:solidFill>
            <a:srgbClr val="fb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1" name="TextBox 4"/>
          <p:cNvSpPr/>
          <p:nvPr/>
        </p:nvSpPr>
        <p:spPr>
          <a:xfrm>
            <a:off x="411480" y="270360"/>
            <a:ext cx="11338200" cy="501120"/>
          </a:xfrm>
          <a:prstGeom prst="rect">
            <a:avLst/>
          </a:prstGeom>
          <a:noFill/>
          <a:ln w="0">
            <a:noFill/>
          </a:ln>
        </p:spPr>
        <p:style>
          <a:lnRef idx="0"/>
          <a:fillRef idx="0"/>
          <a:effectRef idx="0"/>
          <a:fontRef idx="minor"/>
        </p:style>
        <p:txBody>
          <a:bodyPr lIns="90000" rIns="90000" tIns="45000" bIns="45000" anchor="ctr">
            <a:spAutoFit/>
          </a:bodyPr>
          <a:p>
            <a:pPr defTabSz="457200">
              <a:lnSpc>
                <a:spcPct val="100000"/>
              </a:lnSpc>
              <a:spcAft>
                <a:spcPts val="499"/>
              </a:spcAft>
            </a:pPr>
            <a:r>
              <a:rPr b="1" lang="en-US" sz="2700" spc="-1" strike="noStrike">
                <a:solidFill>
                  <a:srgbClr val="ffffff"/>
                </a:solidFill>
                <a:latin typeface="Calibri"/>
              </a:rPr>
              <a:t>Conclusion and Future Work</a:t>
            </a:r>
            <a:endParaRPr b="0" lang="en-US" sz="2700" spc="-1" strike="noStrike">
              <a:solidFill>
                <a:srgbClr val="000000"/>
              </a:solidFill>
              <a:latin typeface="Arial"/>
            </a:endParaRPr>
          </a:p>
        </p:txBody>
      </p:sp>
      <p:sp>
        <p:nvSpPr>
          <p:cNvPr id="152" name="TextBox 5"/>
          <p:cNvSpPr/>
          <p:nvPr/>
        </p:nvSpPr>
        <p:spPr>
          <a:xfrm>
            <a:off x="11338560" y="6446520"/>
            <a:ext cx="731160" cy="2271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spcAft>
                <a:spcPts val="499"/>
              </a:spcAft>
            </a:pPr>
            <a:r>
              <a:rPr b="1" lang="en-US" sz="900" spc="-1" strike="noStrike">
                <a:solidFill>
                  <a:srgbClr val="606a72"/>
                </a:solidFill>
                <a:latin typeface="Calibri"/>
              </a:rPr>
              <a:t>7</a:t>
            </a:r>
            <a:endParaRPr b="0" lang="en-US" sz="900" spc="-1" strike="noStrike">
              <a:solidFill>
                <a:srgbClr val="000000"/>
              </a:solidFill>
              <a:latin typeface="Arial"/>
            </a:endParaRPr>
          </a:p>
        </p:txBody>
      </p:sp>
      <p:sp>
        <p:nvSpPr>
          <p:cNvPr id="153" name="TextBox 6"/>
          <p:cNvSpPr/>
          <p:nvPr/>
        </p:nvSpPr>
        <p:spPr>
          <a:xfrm>
            <a:off x="548640" y="1828800"/>
            <a:ext cx="11063880" cy="3294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Achievements</a:t>
            </a:r>
            <a:endParaRPr b="0" lang="en-US" sz="18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Delivered a working hybrid system that fuses live routing, a Machine Learning model, and local context into one explainable prediction.</a:t>
            </a:r>
            <a:endParaRPr b="0" lang="en-US" sz="15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Model achieved ROC-AUC 0.915 and genuinely contributes to each prediction.</a:t>
            </a:r>
            <a:endParaRPr b="0" lang="en-US" sz="15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Contribution</a:t>
            </a:r>
            <a:endParaRPr b="0" lang="en-US" sz="18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Local specificity — encodes Buea's schools, markets, holidays and rainy season, which global services do not.</a:t>
            </a:r>
            <a:endParaRPr b="0" lang="en-US" sz="15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Limitations</a:t>
            </a:r>
            <a:endParaRPr b="0" lang="en-US" sz="18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Short (~15-day) dataset dominated by free-flowing cases; single base data source; hand-tuned adjustment weights.</a:t>
            </a:r>
            <a:endParaRPr b="0" lang="en-US" sz="1500" spc="-1" strike="noStrike">
              <a:solidFill>
                <a:srgbClr val="000000"/>
              </a:solidFill>
              <a:latin typeface="Arial"/>
            </a:endParaRPr>
          </a:p>
          <a:p>
            <a:pPr defTabSz="457200">
              <a:lnSpc>
                <a:spcPct val="100000"/>
              </a:lnSpc>
              <a:spcAft>
                <a:spcPts val="499"/>
              </a:spcAft>
            </a:pPr>
            <a:r>
              <a:rPr b="1" lang="en-US" sz="1800" spc="-1" strike="noStrike">
                <a:solidFill>
                  <a:srgbClr val="263238"/>
                </a:solidFill>
                <a:latin typeface="Calibri"/>
              </a:rPr>
              <a:t>▸  </a:t>
            </a:r>
            <a:r>
              <a:rPr b="1" lang="en-US" sz="1800" spc="-1" strike="noStrike">
                <a:solidFill>
                  <a:srgbClr val="263238"/>
                </a:solidFill>
                <a:latin typeface="Calibri"/>
              </a:rPr>
              <a:t>Future Work</a:t>
            </a:r>
            <a:endParaRPr b="0" lang="en-US" sz="1800" spc="-1" strike="noStrike">
              <a:solidFill>
                <a:srgbClr val="000000"/>
              </a:solidFill>
              <a:latin typeface="Arial"/>
            </a:endParaRPr>
          </a:p>
          <a:p>
            <a:pPr marL="457200" defTabSz="457200">
              <a:lnSpc>
                <a:spcPct val="100000"/>
              </a:lnSpc>
              <a:spcAft>
                <a:spcPts val="499"/>
              </a:spcAft>
            </a:pPr>
            <a:r>
              <a:rPr b="0" lang="en-US" sz="1500" spc="-1" strike="noStrike">
                <a:solidFill>
                  <a:srgbClr val="606a72"/>
                </a:solidFill>
                <a:latin typeface="Calibri"/>
              </a:rPr>
              <a:t>–  </a:t>
            </a:r>
            <a:r>
              <a:rPr b="0" lang="en-US" sz="1500" spc="-1" strike="noStrike">
                <a:solidFill>
                  <a:srgbClr val="606a72"/>
                </a:solidFill>
                <a:latin typeface="Calibri"/>
              </a:rPr>
              <a:t>Collect 12+ months of data and retrain; add roadside sensors; build a mobile app; database-driven event manager.</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2026-05-31T14:16:17Z</dcterms:modified>
  <cp:revision>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